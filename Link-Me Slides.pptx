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f72e592-7e16-b732-b47c-581a4336061f}">
          <p14:sldIdLst>
            <p14:sldId id="256"/>
            <p14:sldId id="257"/>
            <p14:sldId id="258"/>
            <p14:sldId id="259"/>
          </p14:sldIdLst>
        </p14:section>
        <p14:section name="Setup" id="{0dbbb9ed-49b6-36f8-2c4b-5db8c347196d}">
          <p14:sldIdLst>
            <p14:sldId id="260"/>
            <p14:sldId id="261"/>
            <p14:sldId id="262"/>
            <p14:sldId id="263"/>
            <p14:sldId id="264"/>
          </p14:sldIdLst>
        </p14:section>
        <p14:section name="HTML" id="{d1c3d142-97a4-9d49-9a10-e016dd22910d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SS" id="{071601fa-dc34-8ba6-f720-30c5b8d56e48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Make it yours" id="{9dc5de8d-c3a5-c143-e8fd-db3d0f0de423}">
          <p14:sldIdLst>
            <p14:sldId id="284"/>
            <p14:sldId id="285"/>
          </p14:sldIdLst>
        </p14:section>
        <p14:section name="Put it online" id="{771457d7-e3b5-ae94-1234-1e9f14497ff7}">
          <p14:sldIdLst>
            <p14:sldId id="286"/>
            <p14:sldId id="287"/>
          </p14:sldIdLst>
        </p14:section>
        <p14:section name="Wrap-up" id="{4d58b60d-6d69-508e-a6d3-a8bcacb5bd8a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live published version of linktree-finished. Hover the buttons, click a link. "By the end of today you'll have one of these, and you'll have built it yourself."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of the three parts. Point at the phone screenshot: this is what everyone will have by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helpers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 analogy. Then the magic trick: in linktree-finished, delete the &lt;link rel="stylesheet"&gt; line, save, refresh (ugly). Undo, save, refresh (pretty). "Same HTML. The only difference is CSS."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10 minutes. Put the download link and QR code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#1 setup problem: editing files inside the zip on Windows. Walk around and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bar: "This page lives on YOUR computer. We'll put it online at the end."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Edit → Save → Refresh on the board and leave it there. Optional: File → Auto Save in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until most of the room is ready. Helpers handle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20 minutes. Steps 1 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tag, closing tag (with the slash), content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Scroll through index.html top to bottom. Point out comments, head vs body, and the ✏️ markers.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&lt;title&gt; is in the &lt;head&gt;; the &lt;h1&gt; and &lt;p&gt; are in the &lt;body&gt;. After refreshing, point out the browser tab changed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class="link" is a name tag we'll use with CSS later. The highlighted line is an added email link (mailto:). Emoji keyboard: Win + . (Windows) / Ctrl + Cmd + Space (Mac).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photo? Keep profile.svg, or paste any image URL into src. alt is read aloud by screen readers. If the picture is enormous: "Perfect, that's CSS's job, coming up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that everyone has their name, links, and photo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20 minutes. Steps 4 to 9. Switch to style.css.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Selector = who, property = what, value = to what. The colors on the chips match the colors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the class="link" name tags from the HTML? .link means everything wearing that name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VS Code color square: hover or click it for a color picker. padding: 40px 20px = 40 top and bottom, 20 left and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border is written as thickness, style, color. Try dashed instead of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are inline by default (side by side like words). block makes each one a full row, like a brick. Next slide explains padding vs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too. Padding = bubble wrap inside the box. Margin = personal space outside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on top and bottom, auto on left and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Hover a few times BEFORE adding transition (it's instant and choppy). Then add transition to .link, save, refresh: smooth. Good moment to show you can add to an existing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behind can copy style.css from linktree-finished.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Celebrate. Then the DevTools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people open a linktree on their phone. Ours already works there thanks to max-width.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time. You and the helpers walk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free time. Snippets are in the Member Cheat Sheet and the presenter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15 minutes, or make it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Alternative: app.netlify.com/drop (drag the folder in; free account needed to keep it). To update later: click a file in the repo → pencil icon, or Add file → Upload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slide to leave up during free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and tell: ask 2 or 3 volunteers to share their page (ask first). Quick feedback poll: what was the most confusing part?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Edit  →  Save (Ctrl/Cmd + S)  →  Refresh (F5 / Cmd + 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point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88036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4023360"/>
            <a:ext cx="999439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40080" y="1325880"/>
            <a:ext cx="213969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 CLUB WORKSHOP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Build Your Own Linktree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776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Make a personal link page with HTML and CSS. No experience needed.</a:t>
            </a:r>
            <a:endParaRPr lang="en-US" sz="2200" dirty="0"/>
          </a:p>
        </p:txBody>
      </p:sp>
      <p:sp>
        <p:nvSpPr>
          <p:cNvPr id="5" name="Finished page phone frame"/>
          <p:cNvSpPr/>
          <p:nvPr/>
        </p:nvSpPr>
        <p:spPr>
          <a:xfrm>
            <a:off x="7726680" y="731520"/>
            <a:ext cx="4313080" cy="5394960"/>
          </a:xfrm>
          <a:prstGeom prst="roundRect">
            <a:avLst>
              <a:gd name="adj" fmla="val 63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Finished page screenshot" descr="Screenshot of the finished link page: a round profile picture, a name, a short bio, and rounded blue link buttons on a dark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696" y="859536"/>
            <a:ext cx="4057048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9829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TODAY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Today you'll build this, from scratch</a:t>
            </a:r>
            <a:endParaRPr lang="en-US" sz="3400" dirty="0"/>
          </a:p>
        </p:txBody>
      </p:sp>
      <p:sp>
        <p:nvSpPr>
          <p:cNvPr id="4" name="HTML circle"/>
          <p:cNvSpPr/>
          <p:nvPr/>
        </p:nvSpPr>
        <p:spPr>
          <a:xfrm>
            <a:off x="548640" y="196596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HTML icon" descr="HTM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183130"/>
            <a:ext cx="434340" cy="434340"/>
          </a:xfrm>
          <a:prstGeom prst="rect">
            <a:avLst/>
          </a:prstGeom>
        </p:spPr>
      </p:pic>
      <p:sp>
        <p:nvSpPr>
          <p:cNvPr id="6" name="HTML heading"/>
          <p:cNvSpPr txBox="1"/>
          <p:nvPr/>
        </p:nvSpPr>
        <p:spPr>
          <a:xfrm>
            <a:off x="1691640" y="1947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HTML</a:t>
            </a:r>
            <a:endParaRPr lang="en-US" sz="2400" dirty="0"/>
          </a:p>
        </p:txBody>
      </p:sp>
      <p:sp>
        <p:nvSpPr>
          <p:cNvPr id="7" name="HTML text"/>
          <p:cNvSpPr txBox="1"/>
          <p:nvPr/>
        </p:nvSpPr>
        <p:spPr>
          <a:xfrm>
            <a:off x="1691640" y="2404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Put your name, bio, photo, and links on a page</a:t>
            </a:r>
            <a:endParaRPr lang="en-US" sz="1800" dirty="0"/>
          </a:p>
        </p:txBody>
      </p:sp>
      <p:sp>
        <p:nvSpPr>
          <p:cNvPr id="8" name="CSS circle"/>
          <p:cNvSpPr/>
          <p:nvPr/>
        </p:nvSpPr>
        <p:spPr>
          <a:xfrm>
            <a:off x="548640" y="32918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CSS icon" descr="C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3509010"/>
            <a:ext cx="434340" cy="434340"/>
          </a:xfrm>
          <a:prstGeom prst="rect">
            <a:avLst/>
          </a:prstGeom>
        </p:spPr>
      </p:pic>
      <p:sp>
        <p:nvSpPr>
          <p:cNvPr id="10" name="CSS heading"/>
          <p:cNvSpPr txBox="1"/>
          <p:nvPr/>
        </p:nvSpPr>
        <p:spPr>
          <a:xfrm>
            <a:off x="1691640" y="32735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CSS</a:t>
            </a:r>
            <a:endParaRPr lang="en-US" sz="2400" dirty="0"/>
          </a:p>
        </p:txBody>
      </p:sp>
      <p:sp>
        <p:nvSpPr>
          <p:cNvPr id="11" name="CSS text"/>
          <p:cNvSpPr txBox="1"/>
          <p:nvPr/>
        </p:nvSpPr>
        <p:spPr>
          <a:xfrm>
            <a:off x="1691640" y="37307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Turn it into a styled page with clickable buttons</a:t>
            </a:r>
            <a:endParaRPr lang="en-US" sz="1800" dirty="0"/>
          </a:p>
        </p:txBody>
      </p:sp>
      <p:sp>
        <p:nvSpPr>
          <p:cNvPr id="12" name="Publish (optional) circle"/>
          <p:cNvSpPr/>
          <p:nvPr/>
        </p:nvSpPr>
        <p:spPr>
          <a:xfrm>
            <a:off x="548640" y="461772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Publish (optional) icon" descr="Publish (optional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834890"/>
            <a:ext cx="434340" cy="434340"/>
          </a:xfrm>
          <a:prstGeom prst="rect">
            <a:avLst/>
          </a:prstGeom>
        </p:spPr>
      </p:pic>
      <p:sp>
        <p:nvSpPr>
          <p:cNvPr id="14" name="Publish (optional) heading"/>
          <p:cNvSpPr txBox="1"/>
          <p:nvPr/>
        </p:nvSpPr>
        <p:spPr>
          <a:xfrm>
            <a:off x="1691640" y="4599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Publish (optional)</a:t>
            </a:r>
            <a:endParaRPr lang="en-US" sz="2400" dirty="0"/>
          </a:p>
        </p:txBody>
      </p:sp>
      <p:sp>
        <p:nvSpPr>
          <p:cNvPr id="15" name="Publish (optional) text"/>
          <p:cNvSpPr txBox="1"/>
          <p:nvPr/>
        </p:nvSpPr>
        <p:spPr>
          <a:xfrm>
            <a:off x="1691640" y="5056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Put it online with a real URL for your bio</a:t>
            </a:r>
            <a:endParaRPr lang="en-US" sz="1800" dirty="0"/>
          </a:p>
        </p:txBody>
      </p:sp>
      <p:sp>
        <p:nvSpPr>
          <p:cNvPr id="16" name="Finished page phone frame"/>
          <p:cNvSpPr/>
          <p:nvPr/>
        </p:nvSpPr>
        <p:spPr>
          <a:xfrm>
            <a:off x="7863840" y="1783080"/>
            <a:ext cx="3482901" cy="4343400"/>
          </a:xfrm>
          <a:prstGeom prst="roundRect">
            <a:avLst>
              <a:gd name="adj" fmla="val 78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Finished page screenshot" descr="Screenshot of the finished link page: a round profile picture, a name, a short bio, and rounded blue link buttons on a dark backgrou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911096"/>
            <a:ext cx="3226869" cy="4087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29844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THE PLAN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plan for today</a:t>
            </a:r>
            <a:endParaRPr lang="en-US" sz="3400" dirty="0"/>
          </a:p>
        </p:txBody>
      </p:sp>
      <p:sp>
        <p:nvSpPr>
          <p:cNvPr id="4" name="Setup card"/>
          <p:cNvSpPr/>
          <p:nvPr/>
        </p:nvSpPr>
        <p:spPr>
          <a:xfrm>
            <a:off x="548640" y="1965960"/>
            <a:ext cx="2035454" cy="3017520"/>
          </a:xfrm>
          <a:prstGeom prst="roundRect">
            <a:avLst>
              <a:gd name="adj" fmla="val 6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Setup heading"/>
          <p:cNvSpPr txBox="1"/>
          <p:nvPr/>
        </p:nvSpPr>
        <p:spPr>
          <a:xfrm>
            <a:off x="822960" y="3200400"/>
            <a:ext cx="15782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Setup</a:t>
            </a:r>
            <a:endParaRPr lang="en-US" sz="2200" dirty="0"/>
          </a:p>
        </p:txBody>
      </p:sp>
      <p:sp>
        <p:nvSpPr>
          <p:cNvPr id="7" name="Setup text"/>
          <p:cNvSpPr txBox="1"/>
          <p:nvPr/>
        </p:nvSpPr>
        <p:spPr>
          <a:xfrm>
            <a:off x="822960" y="3749040"/>
            <a:ext cx="15782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Get the files open</a:t>
            </a:r>
            <a:endParaRPr lang="en-US" sz="1700" dirty="0"/>
          </a:p>
        </p:txBody>
      </p:sp>
      <p:sp>
        <p:nvSpPr>
          <p:cNvPr id="8" name="HTML card"/>
          <p:cNvSpPr/>
          <p:nvPr/>
        </p:nvSpPr>
        <p:spPr>
          <a:xfrm>
            <a:off x="2812694" y="1965960"/>
            <a:ext cx="2035454" cy="3017520"/>
          </a:xfrm>
          <a:prstGeom prst="roundRect">
            <a:avLst>
              <a:gd name="adj" fmla="val 6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2"/>
          <p:cNvSpPr txBox="1"/>
          <p:nvPr/>
        </p:nvSpPr>
        <p:spPr>
          <a:xfrm>
            <a:off x="3087014" y="2240280"/>
            <a:ext cx="731520" cy="7315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HTML heading"/>
          <p:cNvSpPr txBox="1"/>
          <p:nvPr/>
        </p:nvSpPr>
        <p:spPr>
          <a:xfrm>
            <a:off x="3087014" y="3200400"/>
            <a:ext cx="15782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HTML</a:t>
            </a:r>
            <a:endParaRPr lang="en-US" sz="2200" dirty="0"/>
          </a:p>
        </p:txBody>
      </p:sp>
      <p:sp>
        <p:nvSpPr>
          <p:cNvPr id="11" name="HTML text"/>
          <p:cNvSpPr txBox="1"/>
          <p:nvPr/>
        </p:nvSpPr>
        <p:spPr>
          <a:xfrm>
            <a:off x="3087014" y="3749040"/>
            <a:ext cx="15782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Add your content</a:t>
            </a:r>
            <a:endParaRPr lang="en-US" sz="1700" dirty="0"/>
          </a:p>
        </p:txBody>
      </p:sp>
      <p:sp>
        <p:nvSpPr>
          <p:cNvPr id="12" name="CSS card"/>
          <p:cNvSpPr/>
          <p:nvPr/>
        </p:nvSpPr>
        <p:spPr>
          <a:xfrm>
            <a:off x="5076749" y="1965960"/>
            <a:ext cx="2035454" cy="3017520"/>
          </a:xfrm>
          <a:prstGeom prst="roundRect">
            <a:avLst>
              <a:gd name="adj" fmla="val 6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3"/>
          <p:cNvSpPr txBox="1"/>
          <p:nvPr/>
        </p:nvSpPr>
        <p:spPr>
          <a:xfrm>
            <a:off x="5351069" y="22402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CSS heading"/>
          <p:cNvSpPr txBox="1"/>
          <p:nvPr/>
        </p:nvSpPr>
        <p:spPr>
          <a:xfrm>
            <a:off x="5351069" y="3200400"/>
            <a:ext cx="15782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CSS</a:t>
            </a:r>
            <a:endParaRPr lang="en-US" sz="2200" dirty="0"/>
          </a:p>
        </p:txBody>
      </p:sp>
      <p:sp>
        <p:nvSpPr>
          <p:cNvPr id="15" name="CSS text"/>
          <p:cNvSpPr txBox="1"/>
          <p:nvPr/>
        </p:nvSpPr>
        <p:spPr>
          <a:xfrm>
            <a:off x="5351069" y="3749040"/>
            <a:ext cx="15782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Make it look good</a:t>
            </a:r>
            <a:endParaRPr lang="en-US" sz="1700" dirty="0"/>
          </a:p>
        </p:txBody>
      </p:sp>
      <p:sp>
        <p:nvSpPr>
          <p:cNvPr id="16" name="Make it yours card"/>
          <p:cNvSpPr/>
          <p:nvPr/>
        </p:nvSpPr>
        <p:spPr>
          <a:xfrm>
            <a:off x="7340803" y="1965960"/>
            <a:ext cx="2035454" cy="3017520"/>
          </a:xfrm>
          <a:prstGeom prst="roundRect">
            <a:avLst>
              <a:gd name="adj" fmla="val 6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4"/>
          <p:cNvSpPr txBox="1"/>
          <p:nvPr/>
        </p:nvSpPr>
        <p:spPr>
          <a:xfrm>
            <a:off x="7615123" y="2240280"/>
            <a:ext cx="731520" cy="7315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Make it yours heading"/>
          <p:cNvSpPr txBox="1"/>
          <p:nvPr/>
        </p:nvSpPr>
        <p:spPr>
          <a:xfrm>
            <a:off x="7615123" y="3200400"/>
            <a:ext cx="15782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Make it yours</a:t>
            </a:r>
            <a:endParaRPr lang="en-US" sz="2200" dirty="0"/>
          </a:p>
        </p:txBody>
      </p:sp>
      <p:sp>
        <p:nvSpPr>
          <p:cNvPr id="19" name="Make it yours text"/>
          <p:cNvSpPr txBox="1"/>
          <p:nvPr/>
        </p:nvSpPr>
        <p:spPr>
          <a:xfrm>
            <a:off x="7615123" y="3749040"/>
            <a:ext cx="15782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Challenges and free time</a:t>
            </a:r>
            <a:endParaRPr lang="en-US" sz="1700" dirty="0"/>
          </a:p>
        </p:txBody>
      </p:sp>
      <p:sp>
        <p:nvSpPr>
          <p:cNvPr id="20" name="Put it online card"/>
          <p:cNvSpPr/>
          <p:nvPr/>
        </p:nvSpPr>
        <p:spPr>
          <a:xfrm>
            <a:off x="9604858" y="1965960"/>
            <a:ext cx="2035454" cy="3017520"/>
          </a:xfrm>
          <a:prstGeom prst="roundRect">
            <a:avLst>
              <a:gd name="adj" fmla="val 6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5"/>
          <p:cNvSpPr txBox="1"/>
          <p:nvPr/>
        </p:nvSpPr>
        <p:spPr>
          <a:xfrm>
            <a:off x="9879178" y="2240280"/>
            <a:ext cx="731520" cy="73152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5</a:t>
            </a:r>
            <a:endParaRPr lang="en-US" sz="2600" dirty="0"/>
          </a:p>
        </p:txBody>
      </p:sp>
      <p:sp>
        <p:nvSpPr>
          <p:cNvPr id="22" name="Put it online heading"/>
          <p:cNvSpPr txBox="1"/>
          <p:nvPr/>
        </p:nvSpPr>
        <p:spPr>
          <a:xfrm>
            <a:off x="9879178" y="3200400"/>
            <a:ext cx="15782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Put it online</a:t>
            </a:r>
            <a:endParaRPr lang="en-US" sz="2200" dirty="0"/>
          </a:p>
        </p:txBody>
      </p:sp>
      <p:sp>
        <p:nvSpPr>
          <p:cNvPr id="23" name="Put it online text"/>
          <p:cNvSpPr txBox="1"/>
          <p:nvPr/>
        </p:nvSpPr>
        <p:spPr>
          <a:xfrm>
            <a:off x="9879178" y="3749040"/>
            <a:ext cx="15782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Optional: get a real URL</a:t>
            </a:r>
            <a:endParaRPr lang="en-US" sz="1700" dirty="0"/>
          </a:p>
        </p:txBody>
      </p:sp>
      <p:sp>
        <p:nvSpPr>
          <p:cNvPr id="24" name="Help note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Ask questions anytime. Helpers are walking around, so raise your hand if you get stuck.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71907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THE BIG IDEA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website is built from 3 languages</a:t>
            </a:r>
            <a:endParaRPr lang="en-US" sz="3400" dirty="0"/>
          </a:p>
        </p:txBody>
      </p:sp>
      <p:sp>
        <p:nvSpPr>
          <p:cNvPr id="4" name="HTML card"/>
          <p:cNvSpPr/>
          <p:nvPr/>
        </p:nvSpPr>
        <p:spPr>
          <a:xfrm>
            <a:off x="548640" y="1920240"/>
            <a:ext cx="3483864" cy="4114800"/>
          </a:xfrm>
          <a:prstGeom prst="roundRect">
            <a:avLst>
              <a:gd name="adj" fmla="val 3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TML circle"/>
          <p:cNvSpPr/>
          <p:nvPr/>
        </p:nvSpPr>
        <p:spPr>
          <a:xfrm>
            <a:off x="868680" y="219456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HTML icon" descr="HTM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34590"/>
            <a:ext cx="480060" cy="480060"/>
          </a:xfrm>
          <a:prstGeom prst="rect">
            <a:avLst/>
          </a:prstGeom>
        </p:spPr>
      </p:pic>
      <p:sp>
        <p:nvSpPr>
          <p:cNvPr id="7" name="HTML heading"/>
          <p:cNvSpPr txBox="1"/>
          <p:nvPr/>
        </p:nvSpPr>
        <p:spPr>
          <a:xfrm>
            <a:off x="868680" y="333756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HTML</a:t>
            </a:r>
            <a:endParaRPr lang="en-US" sz="2800" dirty="0"/>
          </a:p>
        </p:txBody>
      </p:sp>
      <p:sp>
        <p:nvSpPr>
          <p:cNvPr id="8" name="HTML subheading"/>
          <p:cNvSpPr txBox="1"/>
          <p:nvPr/>
        </p:nvSpPr>
        <p:spPr>
          <a:xfrm>
            <a:off x="868680" y="38404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structure</a:t>
            </a:r>
            <a:endParaRPr lang="en-US" sz="1800" dirty="0"/>
          </a:p>
        </p:txBody>
      </p:sp>
      <p:sp>
        <p:nvSpPr>
          <p:cNvPr id="9" name="HTML text"/>
          <p:cNvSpPr txBox="1"/>
          <p:nvPr/>
        </p:nvSpPr>
        <p:spPr>
          <a:xfrm>
            <a:off x="868680" y="429768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Like the walls and rooms of a house. It says </a:t>
            </a:r>
            <a:r>
              <a:rPr lang="en-US" sz="1800" b="1" dirty="0">
                <a:solidFill>
                  <a:schemeClr val="tx1"/>
                </a:solidFill>
              </a:rPr>
              <a:t>what</a:t>
            </a:r>
            <a:r>
              <a:rPr lang="en-US" sz="1800" dirty="0">
                <a:solidFill>
                  <a:schemeClr val="tx1"/>
                </a:solidFill>
              </a:rPr>
              <a:t> is on the page.</a:t>
            </a:r>
            <a:endParaRPr lang="en-US" sz="1800" dirty="0"/>
          </a:p>
        </p:txBody>
      </p:sp>
      <p:sp>
        <p:nvSpPr>
          <p:cNvPr id="10" name="CSS card"/>
          <p:cNvSpPr/>
          <p:nvPr/>
        </p:nvSpPr>
        <p:spPr>
          <a:xfrm>
            <a:off x="4352544" y="1920240"/>
            <a:ext cx="3483864" cy="4114800"/>
          </a:xfrm>
          <a:prstGeom prst="roundRect">
            <a:avLst>
              <a:gd name="adj" fmla="val 3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SS circle"/>
          <p:cNvSpPr/>
          <p:nvPr/>
        </p:nvSpPr>
        <p:spPr>
          <a:xfrm>
            <a:off x="4672584" y="219456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SS icon" descr="C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614" y="2434590"/>
            <a:ext cx="480060" cy="480060"/>
          </a:xfrm>
          <a:prstGeom prst="rect">
            <a:avLst/>
          </a:prstGeom>
        </p:spPr>
      </p:pic>
      <p:sp>
        <p:nvSpPr>
          <p:cNvPr id="13" name="CSS heading"/>
          <p:cNvSpPr txBox="1"/>
          <p:nvPr/>
        </p:nvSpPr>
        <p:spPr>
          <a:xfrm>
            <a:off x="4672584" y="333756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CSS</a:t>
            </a:r>
            <a:endParaRPr lang="en-US" sz="2800" dirty="0"/>
          </a:p>
        </p:txBody>
      </p:sp>
      <p:sp>
        <p:nvSpPr>
          <p:cNvPr id="14" name="CSS subheading"/>
          <p:cNvSpPr txBox="1"/>
          <p:nvPr/>
        </p:nvSpPr>
        <p:spPr>
          <a:xfrm>
            <a:off x="4672584" y="38404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style</a:t>
            </a:r>
            <a:endParaRPr lang="en-US" sz="1800" dirty="0"/>
          </a:p>
        </p:txBody>
      </p:sp>
      <p:sp>
        <p:nvSpPr>
          <p:cNvPr id="15" name="CSS text"/>
          <p:cNvSpPr txBox="1"/>
          <p:nvPr/>
        </p:nvSpPr>
        <p:spPr>
          <a:xfrm>
            <a:off x="4672584" y="429768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Like the paint and decoration. It says how things </a:t>
            </a:r>
            <a:r>
              <a:rPr lang="en-US" sz="1800" b="1" dirty="0">
                <a:solidFill>
                  <a:schemeClr val="tx1"/>
                </a:solidFill>
              </a:rPr>
              <a:t>look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JavaScript card"/>
          <p:cNvSpPr/>
          <p:nvPr/>
        </p:nvSpPr>
        <p:spPr>
          <a:xfrm>
            <a:off x="8156448" y="1920240"/>
            <a:ext cx="3483864" cy="4114800"/>
          </a:xfrm>
          <a:prstGeom prst="roundRect">
            <a:avLst>
              <a:gd name="adj" fmla="val 3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JavaScript circle"/>
          <p:cNvSpPr/>
          <p:nvPr/>
        </p:nvSpPr>
        <p:spPr>
          <a:xfrm>
            <a:off x="8476488" y="2194560"/>
            <a:ext cx="960120" cy="9601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JavaScript icon" descr="JavaScri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18" y="2434590"/>
            <a:ext cx="480060" cy="480060"/>
          </a:xfrm>
          <a:prstGeom prst="rect">
            <a:avLst/>
          </a:prstGeom>
        </p:spPr>
      </p:pic>
      <p:sp>
        <p:nvSpPr>
          <p:cNvPr id="19" name="JavaScript heading"/>
          <p:cNvSpPr txBox="1"/>
          <p:nvPr/>
        </p:nvSpPr>
        <p:spPr>
          <a:xfrm>
            <a:off x="8476488" y="333756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JavaScript</a:t>
            </a:r>
            <a:endParaRPr lang="en-US" sz="2800" dirty="0"/>
          </a:p>
        </p:txBody>
      </p:sp>
      <p:sp>
        <p:nvSpPr>
          <p:cNvPr id="20" name="JavaScript subheading"/>
          <p:cNvSpPr txBox="1"/>
          <p:nvPr/>
        </p:nvSpPr>
        <p:spPr>
          <a:xfrm>
            <a:off x="8476488" y="38404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behavior</a:t>
            </a:r>
            <a:endParaRPr lang="en-US" sz="1800" dirty="0"/>
          </a:p>
        </p:txBody>
      </p:sp>
      <p:sp>
        <p:nvSpPr>
          <p:cNvPr id="21" name="JavaScript text"/>
          <p:cNvSpPr txBox="1"/>
          <p:nvPr/>
        </p:nvSpPr>
        <p:spPr>
          <a:xfrm>
            <a:off x="8476488" y="429768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Like the electricity. It makes things </a:t>
            </a:r>
            <a:r>
              <a:rPr lang="en-US" sz="1800" b="1" dirty="0">
                <a:solidFill>
                  <a:schemeClr val="tx1"/>
                </a:solidFill>
              </a:rPr>
              <a:t>do</a:t>
            </a:r>
            <a:r>
              <a:rPr lang="en-US" sz="1800" dirty="0">
                <a:solidFill>
                  <a:schemeClr val="tx1"/>
                </a:solidFill>
              </a:rPr>
              <a:t> stuff.</a:t>
            </a:r>
            <a:endParaRPr lang="en-US" sz="1800" dirty="0"/>
          </a:p>
        </p:txBody>
      </p:sp>
      <p:sp>
        <p:nvSpPr>
          <p:cNvPr id="22" name="Not today label"/>
          <p:cNvSpPr txBox="1"/>
          <p:nvPr/>
        </p:nvSpPr>
        <p:spPr>
          <a:xfrm>
            <a:off x="9948672" y="2240280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today!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914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4"/>
                </a:solidFill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Setup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Get the starter files open in your editor and your browser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9829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SETUP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Download and unzip the starter files</a:t>
            </a:r>
            <a:endParaRPr lang="en-US" sz="3400" dirty="0"/>
          </a:p>
        </p:txBody>
      </p:sp>
      <p:sp>
        <p:nvSpPr>
          <p:cNvPr id="4" name="Number 1"/>
          <p:cNvSpPr txBox="1"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Download heading"/>
          <p:cNvSpPr txBox="1"/>
          <p:nvPr/>
        </p:nvSpPr>
        <p:spPr>
          <a:xfrm>
            <a:off x="1325880" y="18745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Download</a:t>
            </a:r>
            <a:endParaRPr lang="en-US" sz="2200" dirty="0"/>
          </a:p>
        </p:txBody>
      </p:sp>
      <p:sp>
        <p:nvSpPr>
          <p:cNvPr id="6" name="Download text"/>
          <p:cNvSpPr txBox="1"/>
          <p:nvPr/>
        </p:nvSpPr>
        <p:spPr>
          <a:xfrm>
            <a:off x="1325880" y="2267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Get </a:t>
            </a: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linktree-starter.zip</a:t>
            </a:r>
            <a:r>
              <a:rPr lang="en-US" sz="1700" dirty="0">
                <a:solidFill>
                  <a:schemeClr val="tx2"/>
                </a:solidFill>
              </a:rPr>
              <a:t> from the link</a:t>
            </a:r>
            <a:endParaRPr lang="en-US" sz="17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Unzip it heading"/>
          <p:cNvSpPr txBox="1"/>
          <p:nvPr/>
        </p:nvSpPr>
        <p:spPr>
          <a:xfrm>
            <a:off x="1325880" y="27432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Unzip it</a:t>
            </a:r>
            <a:endParaRPr lang="en-US" sz="2200" dirty="0"/>
          </a:p>
        </p:txBody>
      </p:sp>
      <p:sp>
        <p:nvSpPr>
          <p:cNvPr id="9" name="Unzip it text"/>
          <p:cNvSpPr txBox="1"/>
          <p:nvPr/>
        </p:nvSpPr>
        <p:spPr>
          <a:xfrm>
            <a:off x="1325880" y="31363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Windows: right-click → </a:t>
            </a:r>
            <a:r>
              <a:rPr lang="en-US" sz="1700" b="1" dirty="0">
                <a:solidFill>
                  <a:schemeClr val="tx2"/>
                </a:solidFill>
              </a:rPr>
              <a:t>Extract All</a:t>
            </a:r>
            <a:r>
              <a:rPr lang="en-US" sz="1700" dirty="0">
                <a:solidFill>
                  <a:schemeClr val="tx2"/>
                </a:solidFill>
              </a:rPr>
              <a:t>  ·  Mac: double-click</a:t>
            </a:r>
            <a:endParaRPr lang="en-US" sz="1700" dirty="0"/>
          </a:p>
        </p:txBody>
      </p:sp>
      <p:sp>
        <p:nvSpPr>
          <p:cNvPr id="10" name="Number 3"/>
          <p:cNvSpPr txBox="1"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Put it somewhere easy heading"/>
          <p:cNvSpPr txBox="1"/>
          <p:nvPr/>
        </p:nvSpPr>
        <p:spPr>
          <a:xfrm>
            <a:off x="1325880" y="36118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Put it somewhere easy</a:t>
            </a:r>
            <a:endParaRPr lang="en-US" sz="2200" dirty="0"/>
          </a:p>
        </p:txBody>
      </p:sp>
      <p:sp>
        <p:nvSpPr>
          <p:cNvPr id="12" name="Put it somewhere easy text"/>
          <p:cNvSpPr txBox="1"/>
          <p:nvPr/>
        </p:nvSpPr>
        <p:spPr>
          <a:xfrm>
            <a:off x="1325880" y="4005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Move the folder to your Desktop</a:t>
            </a:r>
            <a:endParaRPr lang="en-US" sz="1700" dirty="0"/>
          </a:p>
        </p:txBody>
      </p:sp>
      <p:sp>
        <p:nvSpPr>
          <p:cNvPr id="13" name="Watch out (Windows) card"/>
          <p:cNvSpPr/>
          <p:nvPr/>
        </p:nvSpPr>
        <p:spPr>
          <a:xfrm>
            <a:off x="548640" y="4572000"/>
            <a:ext cx="6080760" cy="1554480"/>
          </a:xfrm>
          <a:prstGeom prst="roundRect">
            <a:avLst>
              <a:gd name="adj" fmla="val 8824"/>
            </a:avLst>
          </a:prstGeom>
          <a:solidFill>
            <a:schemeClr val="accent5">
              <a:alpha val="28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pic>
        <p:nvPicPr>
          <p:cNvPr id="14" name="Watch out (Windows) icon" descr="Watch out (Window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773168"/>
            <a:ext cx="292608" cy="292608"/>
          </a:xfrm>
          <a:prstGeom prst="rect">
            <a:avLst/>
          </a:prstGeom>
        </p:spPr>
      </p:pic>
      <p:sp>
        <p:nvSpPr>
          <p:cNvPr id="15" name="Watch out (Windows) heading"/>
          <p:cNvSpPr txBox="1"/>
          <p:nvPr/>
        </p:nvSpPr>
        <p:spPr>
          <a:xfrm>
            <a:off x="1188720" y="47274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Watch out (Windows)</a:t>
            </a:r>
            <a:endParaRPr lang="en-US" sz="1800" dirty="0"/>
          </a:p>
        </p:txBody>
      </p:sp>
      <p:sp>
        <p:nvSpPr>
          <p:cNvPr id="16" name="Watch out (Windows) text"/>
          <p:cNvSpPr txBox="1"/>
          <p:nvPr/>
        </p:nvSpPr>
        <p:spPr>
          <a:xfrm>
            <a:off x="822960" y="519379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Double-clicking a zip only lets you </a:t>
            </a:r>
            <a:r>
              <a:rPr lang="en-US" sz="1700" b="1" dirty="0">
                <a:solidFill>
                  <a:schemeClr val="tx1"/>
                </a:solidFill>
              </a:rPr>
              <a:t>peek</a:t>
            </a:r>
            <a:r>
              <a:rPr lang="en-US" sz="1700" dirty="0">
                <a:solidFill>
                  <a:schemeClr val="tx1"/>
                </a:solidFill>
              </a:rPr>
              <a:t> inside. Edits won't save. Always </a:t>
            </a:r>
            <a:r>
              <a:rPr lang="en-US" sz="1700" b="1" dirty="0">
                <a:solidFill>
                  <a:schemeClr val="tx1"/>
                </a:solidFill>
              </a:rPr>
              <a:t>Extract All</a:t>
            </a:r>
            <a:r>
              <a:rPr lang="en-US" sz="1700" dirty="0">
                <a:solidFill>
                  <a:schemeClr val="tx1"/>
                </a:solidFill>
              </a:rPr>
              <a:t> first.</a:t>
            </a:r>
            <a:endParaRPr lang="en-US" sz="1700" dirty="0"/>
          </a:p>
        </p:txBody>
      </p:sp>
      <p:sp>
        <p:nvSpPr>
          <p:cNvPr id="17" name="Download link area"/>
          <p:cNvSpPr/>
          <p:nvPr/>
        </p:nvSpPr>
        <p:spPr>
          <a:xfrm>
            <a:off x="7086600" y="1920240"/>
            <a:ext cx="4553712" cy="4206240"/>
          </a:xfrm>
          <a:prstGeom prst="roundRect">
            <a:avLst>
              <a:gd name="adj" fmla="val 3261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18" name="Download link placeholder"/>
          <p:cNvSpPr txBox="1"/>
          <p:nvPr/>
        </p:nvSpPr>
        <p:spPr>
          <a:xfrm>
            <a:off x="7360920" y="3566160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Paste your download link and QR code here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9829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SETUP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Open it in VS Code and in your browser</a:t>
            </a:r>
            <a:endParaRPr lang="en-US" sz="3400" dirty="0"/>
          </a:p>
        </p:txBody>
      </p:sp>
      <p:sp>
        <p:nvSpPr>
          <p:cNvPr id="4" name="Open the folder in VS Code card"/>
          <p:cNvSpPr/>
          <p:nvPr/>
        </p:nvSpPr>
        <p:spPr>
          <a:xfrm>
            <a:off x="548640" y="1920240"/>
            <a:ext cx="5408676" cy="3611880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pen the folder in VS Code circle"/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Open the folder in VS Code icon" descr="Open the folder in V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7" name="Open the folder in VS Code heading"/>
          <p:cNvSpPr txBox="1"/>
          <p:nvPr/>
        </p:nvSpPr>
        <p:spPr>
          <a:xfrm>
            <a:off x="1783080" y="2194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Open the folder in VS Code</a:t>
            </a:r>
            <a:endParaRPr lang="en-US" sz="2200" dirty="0"/>
          </a:p>
        </p:txBody>
      </p:sp>
      <p:sp>
        <p:nvSpPr>
          <p:cNvPr id="8" name="Open the folder in VS Code steps"/>
          <p:cNvSpPr txBox="1"/>
          <p:nvPr/>
        </p:nvSpPr>
        <p:spPr>
          <a:xfrm>
            <a:off x="914400" y="32004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File → Open Folder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Pick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linktree-starter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"Trust the authors?" → </a:t>
            </a:r>
            <a:r>
              <a:rPr lang="en-US" sz="1800" b="1" dirty="0">
                <a:solidFill>
                  <a:schemeClr val="tx1"/>
                </a:solidFill>
              </a:rPr>
              <a:t>Yes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800" dirty="0">
                <a:solidFill>
                  <a:schemeClr val="tx1"/>
                </a:solidFill>
              </a:rPr>
              <a:t> on the left</a:t>
            </a:r>
            <a:endParaRPr lang="en-US" sz="1800" dirty="0"/>
          </a:p>
        </p:txBody>
      </p:sp>
      <p:sp>
        <p:nvSpPr>
          <p:cNvPr id="9" name="Open the page in your browser card"/>
          <p:cNvSpPr/>
          <p:nvPr/>
        </p:nvSpPr>
        <p:spPr>
          <a:xfrm>
            <a:off x="6231636" y="1920240"/>
            <a:ext cx="5408676" cy="3611880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pen the page in your browser circle"/>
          <p:cNvSpPr/>
          <p:nvPr/>
        </p:nvSpPr>
        <p:spPr>
          <a:xfrm>
            <a:off x="6551676" y="21945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Open the page in your browser icon" descr="Open the page in your brow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377440"/>
            <a:ext cx="365760" cy="365760"/>
          </a:xfrm>
          <a:prstGeom prst="rect">
            <a:avLst/>
          </a:prstGeom>
        </p:spPr>
      </p:pic>
      <p:sp>
        <p:nvSpPr>
          <p:cNvPr id="12" name="Open the page in your browser heading"/>
          <p:cNvSpPr txBox="1"/>
          <p:nvPr/>
        </p:nvSpPr>
        <p:spPr>
          <a:xfrm>
            <a:off x="7466076" y="2194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Open the page in your browser</a:t>
            </a:r>
            <a:endParaRPr lang="en-US" sz="2200" dirty="0"/>
          </a:p>
        </p:txBody>
      </p:sp>
      <p:sp>
        <p:nvSpPr>
          <p:cNvPr id="13" name="Open the page in your browser steps"/>
          <p:cNvSpPr txBox="1"/>
          <p:nvPr/>
        </p:nvSpPr>
        <p:spPr>
          <a:xfrm>
            <a:off x="6597396" y="32004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Find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800" dirty="0">
                <a:solidFill>
                  <a:schemeClr val="tx1"/>
                </a:solidFill>
              </a:rPr>
              <a:t> in your folder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Double-click</a:t>
            </a:r>
            <a:r>
              <a:rPr lang="en-US" sz="1800" dirty="0">
                <a:solidFill>
                  <a:schemeClr val="tx1"/>
                </a:solidFill>
              </a:rPr>
              <a:t> it (or drag it into the browser)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The address bar starts with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</a:t>
            </a:r>
            <a:r>
              <a:rPr lang="en-US" sz="1800" dirty="0">
                <a:solidFill>
                  <a:schemeClr val="tx1"/>
                </a:solidFill>
              </a:rPr>
              <a:t>, so only </a:t>
            </a:r>
            <a:r>
              <a:rPr lang="en-US" sz="1800" b="1" dirty="0">
                <a:solidFill>
                  <a:schemeClr val="tx1"/>
                </a:solidFill>
              </a:rPr>
              <a:t>you</a:t>
            </a:r>
            <a:r>
              <a:rPr lang="en-US" sz="1800" dirty="0">
                <a:solidFill>
                  <a:schemeClr val="tx1"/>
                </a:solidFill>
              </a:rPr>
              <a:t> can see it for now</a:t>
            </a:r>
            <a:endParaRPr lang="en-US" sz="1800" dirty="0"/>
          </a:p>
        </p:txBody>
      </p:sp>
      <p:sp>
        <p:nvSpPr>
          <p:cNvPr id="14" name="Editor note"/>
          <p:cNvSpPr txBox="1"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 VS Code? Windows: </a:t>
            </a:r>
            <a:r>
              <a:rPr lang="en-US" sz="1600" b="1" dirty="0">
                <a:solidFill>
                  <a:schemeClr val="tx2"/>
                </a:solidFill>
              </a:rPr>
              <a:t>Notepad</a:t>
            </a:r>
            <a:r>
              <a:rPr lang="en-US" sz="1600" dirty="0">
                <a:solidFill>
                  <a:schemeClr val="tx2"/>
                </a:solidFill>
              </a:rPr>
              <a:t> works. Mac: </a:t>
            </a:r>
            <a:r>
              <a:rPr lang="en-US" sz="1600" b="1" dirty="0">
                <a:solidFill>
                  <a:schemeClr val="tx2"/>
                </a:solidFill>
              </a:rPr>
              <a:t>TextEdit</a:t>
            </a:r>
            <a:r>
              <a:rPr lang="en-US" sz="1600" dirty="0">
                <a:solidFill>
                  <a:schemeClr val="tx2"/>
                </a:solidFill>
              </a:rPr>
              <a:t>, but click Format → Make Plain Text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9829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SETUP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golden loop</a:t>
            </a:r>
            <a:endParaRPr lang="en-US" sz="3400" dirty="0"/>
          </a:p>
        </p:txBody>
      </p:sp>
      <p:sp>
        <p:nvSpPr>
          <p:cNvPr id="4" name="Edit circle"/>
          <p:cNvSpPr/>
          <p:nvPr/>
        </p:nvSpPr>
        <p:spPr>
          <a:xfrm>
            <a:off x="1463040" y="187452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Edit icon" descr="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2308860"/>
            <a:ext cx="868680" cy="868680"/>
          </a:xfrm>
          <a:prstGeom prst="rect">
            <a:avLst/>
          </a:prstGeom>
        </p:spPr>
      </p:pic>
      <p:sp>
        <p:nvSpPr>
          <p:cNvPr id="6" name="Edit heading"/>
          <p:cNvSpPr txBox="1"/>
          <p:nvPr/>
        </p:nvSpPr>
        <p:spPr>
          <a:xfrm>
            <a:off x="868680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Edit</a:t>
            </a:r>
            <a:endParaRPr lang="en-US" sz="2800" dirty="0"/>
          </a:p>
        </p:txBody>
      </p:sp>
      <p:sp>
        <p:nvSpPr>
          <p:cNvPr id="7" name="Edit shortcut"/>
          <p:cNvSpPr txBox="1"/>
          <p:nvPr/>
        </p:nvSpPr>
        <p:spPr>
          <a:xfrm>
            <a:off x="868680" y="4215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Change your code</a:t>
            </a:r>
            <a:endParaRPr lang="en-US" sz="1800" dirty="0"/>
          </a:p>
        </p:txBody>
      </p:sp>
      <p:sp>
        <p:nvSpPr>
          <p:cNvPr id="8" name="Arrow"/>
          <p:cNvSpPr/>
          <p:nvPr/>
        </p:nvSpPr>
        <p:spPr>
          <a:xfrm>
            <a:off x="3429000" y="2743200"/>
            <a:ext cx="1570025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ave circle"/>
          <p:cNvSpPr/>
          <p:nvPr/>
        </p:nvSpPr>
        <p:spPr>
          <a:xfrm>
            <a:off x="5227625" y="1874520"/>
            <a:ext cx="1737360" cy="1737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Save icon" descr="Sa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965" y="2308860"/>
            <a:ext cx="868680" cy="868680"/>
          </a:xfrm>
          <a:prstGeom prst="rect">
            <a:avLst/>
          </a:prstGeom>
        </p:spPr>
      </p:pic>
      <p:sp>
        <p:nvSpPr>
          <p:cNvPr id="11" name="Save heading"/>
          <p:cNvSpPr txBox="1"/>
          <p:nvPr/>
        </p:nvSpPr>
        <p:spPr>
          <a:xfrm>
            <a:off x="4633265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Save</a:t>
            </a:r>
            <a:endParaRPr lang="en-US" sz="2800" dirty="0"/>
          </a:p>
        </p:txBody>
      </p:sp>
      <p:sp>
        <p:nvSpPr>
          <p:cNvPr id="12" name="Save shortcut"/>
          <p:cNvSpPr txBox="1"/>
          <p:nvPr/>
        </p:nvSpPr>
        <p:spPr>
          <a:xfrm>
            <a:off x="4633265" y="4215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Ctrl + S  /  Cmd + S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7193585" y="2743200"/>
            <a:ext cx="1566367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Refresh circle"/>
          <p:cNvSpPr/>
          <p:nvPr/>
        </p:nvSpPr>
        <p:spPr>
          <a:xfrm>
            <a:off x="8988552" y="1874520"/>
            <a:ext cx="1737360" cy="1737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Refresh icon" descr="Refre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892" y="2308860"/>
            <a:ext cx="868680" cy="868680"/>
          </a:xfrm>
          <a:prstGeom prst="rect">
            <a:avLst/>
          </a:prstGeom>
        </p:spPr>
      </p:pic>
      <p:sp>
        <p:nvSpPr>
          <p:cNvPr id="16" name="Refresh heading"/>
          <p:cNvSpPr txBox="1"/>
          <p:nvPr/>
        </p:nvSpPr>
        <p:spPr>
          <a:xfrm>
            <a:off x="8394192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Refresh</a:t>
            </a:r>
            <a:endParaRPr lang="en-US" sz="2800" dirty="0"/>
          </a:p>
        </p:txBody>
      </p:sp>
      <p:sp>
        <p:nvSpPr>
          <p:cNvPr id="17" name="Refresh shortcut"/>
          <p:cNvSpPr txBox="1"/>
          <p:nvPr/>
        </p:nvSpPr>
        <p:spPr>
          <a:xfrm>
            <a:off x="8394192" y="4215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F5  /  Cmd + R</a:t>
            </a:r>
            <a:endParaRPr lang="en-US" sz="1800" dirty="0"/>
          </a:p>
        </p:txBody>
      </p:sp>
      <p:sp>
        <p:nvSpPr>
          <p:cNvPr id="18" name="Loop arrow down"/>
          <p:cNvSpPr/>
          <p:nvPr/>
        </p:nvSpPr>
        <p:spPr>
          <a:xfrm>
            <a:off x="9857232" y="4617720"/>
            <a:ext cx="0" cy="18288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19" name="Loop arrow across"/>
          <p:cNvSpPr/>
          <p:nvPr/>
        </p:nvSpPr>
        <p:spPr>
          <a:xfrm>
            <a:off x="2331720" y="4800600"/>
            <a:ext cx="7525512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20" name="Loop arrow up"/>
          <p:cNvSpPr/>
          <p:nvPr/>
        </p:nvSpPr>
        <p:spPr>
          <a:xfrm flipV="1">
            <a:off x="2331720" y="4617720"/>
            <a:ext cx="0" cy="18288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Repeat label"/>
          <p:cNvSpPr txBox="1"/>
          <p:nvPr/>
        </p:nvSpPr>
        <p:spPr>
          <a:xfrm>
            <a:off x="5547665" y="4617720"/>
            <a:ext cx="10972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repeat</a:t>
            </a:r>
            <a:endParaRPr lang="en-US" sz="1600" dirty="0"/>
          </a:p>
        </p:txBody>
      </p:sp>
      <p:sp>
        <p:nvSpPr>
          <p:cNvPr id="22" name="Loop tip"/>
          <p:cNvSpPr txBox="1"/>
          <p:nvPr/>
        </p:nvSpPr>
        <p:spPr>
          <a:xfrm>
            <a:off x="548640" y="5257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Forgot to save or forgot to refresh? That's almost every "it's not working!" today. A </a:t>
            </a:r>
            <a:r>
              <a:rPr lang="en-US" sz="1800" b="1" dirty="0">
                <a:solidFill>
                  <a:schemeClr val="tx1"/>
                </a:solidFill>
              </a:rPr>
              <a:t>white dot</a:t>
            </a:r>
            <a:r>
              <a:rPr lang="en-US" sz="1800" dirty="0">
                <a:solidFill>
                  <a:schemeClr val="tx1"/>
                </a:solidFill>
              </a:rPr>
              <a:t> on the VS Code tab means the file isn't saved.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ckpoint circle"/>
          <p:cNvSpPr/>
          <p:nvPr/>
        </p:nvSpPr>
        <p:spPr>
          <a:xfrm>
            <a:off x="5410048" y="123444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Checkpoint icon" descr="Check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948" y="157734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8803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Thumbs up when you see your page</a:t>
            </a:r>
            <a:endParaRPr lang="en-US" sz="4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4023360"/>
            <a:ext cx="9994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Looks plain? That's normal, we haven't styled it yet. Stuck? Raise your hand.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914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2"/>
                </a:solidFill>
              </a:rPr>
              <a:t>02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HTML: the content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Put your name, bio, photo, and links on the page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87782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HTML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Anatomy of a tag</a:t>
            </a:r>
            <a:endParaRPr lang="en-US" sz="3400" dirty="0"/>
          </a:p>
        </p:txBody>
      </p:sp>
      <p:sp>
        <p:nvSpPr>
          <p:cNvPr id="4" name="Tag example editor"/>
          <p:cNvSpPr/>
          <p:nvPr/>
        </p:nvSpPr>
        <p:spPr>
          <a:xfrm>
            <a:off x="1508760" y="1874520"/>
            <a:ext cx="9171432" cy="1874520"/>
          </a:xfrm>
          <a:prstGeom prst="roundRect">
            <a:avLst>
              <a:gd name="adj" fmla="val 73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ag example window dot"/>
          <p:cNvSpPr/>
          <p:nvPr/>
        </p:nvSpPr>
        <p:spPr>
          <a:xfrm>
            <a:off x="1783080" y="207568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ag example window dot"/>
          <p:cNvSpPr/>
          <p:nvPr/>
        </p:nvSpPr>
        <p:spPr>
          <a:xfrm>
            <a:off x="2011680" y="207568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ag example window dot"/>
          <p:cNvSpPr/>
          <p:nvPr/>
        </p:nvSpPr>
        <p:spPr>
          <a:xfrm>
            <a:off x="2240280" y="207568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ag example file name"/>
          <p:cNvSpPr txBox="1"/>
          <p:nvPr/>
        </p:nvSpPr>
        <p:spPr>
          <a:xfrm>
            <a:off x="2560320" y="1984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Tag example code"/>
          <p:cNvSpPr txBox="1"/>
          <p:nvPr/>
        </p:nvSpPr>
        <p:spPr>
          <a:xfrm>
            <a:off x="3078328" y="2616200"/>
            <a:ext cx="6309360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4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4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4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 Name</a:t>
            </a:r>
            <a:r>
              <a:rPr lang="en-US" sz="4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4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4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4400" dirty="0"/>
          </a:p>
        </p:txBody>
      </p:sp>
      <p:sp>
        <p:nvSpPr>
          <p:cNvPr id="10" name="opening tag bracket"/>
          <p:cNvSpPr/>
          <p:nvPr/>
        </p:nvSpPr>
        <p:spPr>
          <a:xfrm>
            <a:off x="3124048" y="3931920"/>
            <a:ext cx="124968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1" name="opening tag label"/>
          <p:cNvSpPr txBox="1"/>
          <p:nvPr/>
        </p:nvSpPr>
        <p:spPr>
          <a:xfrm>
            <a:off x="2651608" y="4041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opening tag</a:t>
            </a:r>
            <a:endParaRPr lang="en-US" sz="2000" dirty="0"/>
          </a:p>
        </p:txBody>
      </p:sp>
      <p:sp>
        <p:nvSpPr>
          <p:cNvPr id="12" name="content bracket"/>
          <p:cNvSpPr/>
          <p:nvPr/>
        </p:nvSpPr>
        <p:spPr>
          <a:xfrm>
            <a:off x="4465168" y="3931920"/>
            <a:ext cx="292608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</a:ln>
        </p:spPr>
      </p:sp>
      <p:sp>
        <p:nvSpPr>
          <p:cNvPr id="13" name="content label"/>
          <p:cNvSpPr txBox="1"/>
          <p:nvPr/>
        </p:nvSpPr>
        <p:spPr>
          <a:xfrm>
            <a:off x="4830928" y="4041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content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you see</a:t>
            </a:r>
            <a:endParaRPr lang="en-US" sz="2000" dirty="0"/>
          </a:p>
        </p:txBody>
      </p:sp>
      <p:sp>
        <p:nvSpPr>
          <p:cNvPr id="14" name="closing tag bracket"/>
          <p:cNvSpPr/>
          <p:nvPr/>
        </p:nvSpPr>
        <p:spPr>
          <a:xfrm>
            <a:off x="7482688" y="3931920"/>
            <a:ext cx="158496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5" name="closing tag label"/>
          <p:cNvSpPr txBox="1"/>
          <p:nvPr/>
        </p:nvSpPr>
        <p:spPr>
          <a:xfrm>
            <a:off x="7177888" y="4041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closing tag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notice the /</a:t>
            </a:r>
            <a:endParaRPr lang="en-US" sz="2000" dirty="0"/>
          </a:p>
        </p:txBody>
      </p:sp>
      <p:sp>
        <p:nvSpPr>
          <p:cNvPr id="16" name="Tag explanation"/>
          <p:cNvSpPr txBox="1"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Tags are like </a:t>
            </a:r>
            <a:r>
              <a:rPr lang="en-US" sz="1900" b="1" dirty="0">
                <a:solidFill>
                  <a:schemeClr val="tx1"/>
                </a:solidFill>
              </a:rPr>
              <a:t>labels on boxes</a:t>
            </a:r>
            <a:r>
              <a:rPr lang="en-US" sz="1900" dirty="0">
                <a:solidFill>
                  <a:schemeClr val="tx1"/>
                </a:solidFill>
              </a:rPr>
              <a:t>. This one says "this box is a heading."</a:t>
            </a:r>
            <a:endParaRPr lang="en-US" sz="19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Gray text like </a:t>
            </a: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note --&gt;</a:t>
            </a:r>
            <a:r>
              <a:rPr lang="en-US" sz="1900" dirty="0">
                <a:solidFill>
                  <a:schemeClr val="tx1"/>
                </a:solidFill>
              </a:rPr>
              <a:t> is a </a:t>
            </a:r>
            <a:r>
              <a:rPr lang="en-US" sz="1900" b="1" dirty="0">
                <a:solidFill>
                  <a:schemeClr val="tx1"/>
                </a:solidFill>
              </a:rPr>
              <a:t>comment</a:t>
            </a:r>
            <a:r>
              <a:rPr lang="en-US" sz="1900" dirty="0">
                <a:solidFill>
                  <a:schemeClr val="tx1"/>
                </a:solidFill>
              </a:rPr>
              <a:t>: a note for humans that the browser ignores.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87782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HTML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4 tags we'll use today</a:t>
            </a:r>
            <a:endParaRPr lang="en-US" sz="3400" dirty="0"/>
          </a:p>
        </p:txBody>
      </p:sp>
      <p:sp>
        <p:nvSpPr>
          <p:cNvPr id="4" name="heading 1 card"/>
          <p:cNvSpPr/>
          <p:nvPr/>
        </p:nvSpPr>
        <p:spPr>
          <a:xfrm>
            <a:off x="548640" y="1920240"/>
            <a:ext cx="2567178" cy="32461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ing 1 tag"/>
          <p:cNvSpPr txBox="1"/>
          <p:nvPr/>
        </p:nvSpPr>
        <p:spPr>
          <a:xfrm>
            <a:off x="822960" y="2194560"/>
            <a:ext cx="2018538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3000" dirty="0"/>
          </a:p>
        </p:txBody>
      </p:sp>
      <p:sp>
        <p:nvSpPr>
          <p:cNvPr id="6" name="heading 1 heading"/>
          <p:cNvSpPr txBox="1"/>
          <p:nvPr/>
        </p:nvSpPr>
        <p:spPr>
          <a:xfrm>
            <a:off x="822960" y="3291840"/>
            <a:ext cx="201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heading 1</a:t>
            </a:r>
            <a:endParaRPr lang="en-US" sz="2200" dirty="0"/>
          </a:p>
        </p:txBody>
      </p:sp>
      <p:sp>
        <p:nvSpPr>
          <p:cNvPr id="7" name="heading 1 text"/>
          <p:cNvSpPr txBox="1"/>
          <p:nvPr/>
        </p:nvSpPr>
        <p:spPr>
          <a:xfrm>
            <a:off x="822960" y="3749040"/>
            <a:ext cx="201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biggest heading. Your name goes here.</a:t>
            </a:r>
            <a:endParaRPr lang="en-US" sz="1700" dirty="0"/>
          </a:p>
        </p:txBody>
      </p:sp>
      <p:sp>
        <p:nvSpPr>
          <p:cNvPr id="8" name="paragraph card"/>
          <p:cNvSpPr/>
          <p:nvPr/>
        </p:nvSpPr>
        <p:spPr>
          <a:xfrm>
            <a:off x="3390138" y="1920240"/>
            <a:ext cx="2567178" cy="32461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ragraph tag"/>
          <p:cNvSpPr txBox="1"/>
          <p:nvPr/>
        </p:nvSpPr>
        <p:spPr>
          <a:xfrm>
            <a:off x="3664458" y="2194560"/>
            <a:ext cx="2018538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3000" dirty="0"/>
          </a:p>
        </p:txBody>
      </p:sp>
      <p:sp>
        <p:nvSpPr>
          <p:cNvPr id="10" name="paragraph heading"/>
          <p:cNvSpPr txBox="1"/>
          <p:nvPr/>
        </p:nvSpPr>
        <p:spPr>
          <a:xfrm>
            <a:off x="3664458" y="3291840"/>
            <a:ext cx="201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paragraph</a:t>
            </a:r>
            <a:endParaRPr lang="en-US" sz="2200" dirty="0"/>
          </a:p>
        </p:txBody>
      </p:sp>
      <p:sp>
        <p:nvSpPr>
          <p:cNvPr id="11" name="paragraph text"/>
          <p:cNvSpPr txBox="1"/>
          <p:nvPr/>
        </p:nvSpPr>
        <p:spPr>
          <a:xfrm>
            <a:off x="3664458" y="3749040"/>
            <a:ext cx="201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 block of text. Your bio goes here.</a:t>
            </a:r>
            <a:endParaRPr lang="en-US" sz="1700" dirty="0"/>
          </a:p>
        </p:txBody>
      </p:sp>
      <p:sp>
        <p:nvSpPr>
          <p:cNvPr id="12" name="anchor card"/>
          <p:cNvSpPr/>
          <p:nvPr/>
        </p:nvSpPr>
        <p:spPr>
          <a:xfrm>
            <a:off x="6231636" y="1920240"/>
            <a:ext cx="2567178" cy="32461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nchor tag"/>
          <p:cNvSpPr txBox="1"/>
          <p:nvPr/>
        </p:nvSpPr>
        <p:spPr>
          <a:xfrm>
            <a:off x="6505956" y="2194560"/>
            <a:ext cx="2018538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3000" dirty="0"/>
          </a:p>
        </p:txBody>
      </p:sp>
      <p:sp>
        <p:nvSpPr>
          <p:cNvPr id="14" name="anchor heading"/>
          <p:cNvSpPr txBox="1"/>
          <p:nvPr/>
        </p:nvSpPr>
        <p:spPr>
          <a:xfrm>
            <a:off x="6505956" y="3291840"/>
            <a:ext cx="201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anchor</a:t>
            </a:r>
            <a:endParaRPr lang="en-US" sz="2200" dirty="0"/>
          </a:p>
        </p:txBody>
      </p:sp>
      <p:sp>
        <p:nvSpPr>
          <p:cNvPr id="15" name="anchor text"/>
          <p:cNvSpPr txBox="1"/>
          <p:nvPr/>
        </p:nvSpPr>
        <p:spPr>
          <a:xfrm>
            <a:off x="6505956" y="3749040"/>
            <a:ext cx="201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 link to another page.</a:t>
            </a:r>
            <a:endParaRPr lang="en-US" sz="1700" dirty="0"/>
          </a:p>
        </p:txBody>
      </p:sp>
      <p:sp>
        <p:nvSpPr>
          <p:cNvPr id="16" name="image card"/>
          <p:cNvSpPr/>
          <p:nvPr/>
        </p:nvSpPr>
        <p:spPr>
          <a:xfrm>
            <a:off x="9073134" y="1920240"/>
            <a:ext cx="2567178" cy="32461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mage tag"/>
          <p:cNvSpPr txBox="1"/>
          <p:nvPr/>
        </p:nvSpPr>
        <p:spPr>
          <a:xfrm>
            <a:off x="9347454" y="2194560"/>
            <a:ext cx="2018538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3000" dirty="0"/>
          </a:p>
        </p:txBody>
      </p:sp>
      <p:sp>
        <p:nvSpPr>
          <p:cNvPr id="18" name="image heading"/>
          <p:cNvSpPr txBox="1"/>
          <p:nvPr/>
        </p:nvSpPr>
        <p:spPr>
          <a:xfrm>
            <a:off x="9347454" y="3291840"/>
            <a:ext cx="201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image</a:t>
            </a:r>
            <a:endParaRPr lang="en-US" sz="2200" dirty="0"/>
          </a:p>
        </p:txBody>
      </p:sp>
      <p:sp>
        <p:nvSpPr>
          <p:cNvPr id="19" name="image text"/>
          <p:cNvSpPr txBox="1"/>
          <p:nvPr/>
        </p:nvSpPr>
        <p:spPr>
          <a:xfrm>
            <a:off x="9347454" y="3749040"/>
            <a:ext cx="201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 picture, like your profile photo.</a:t>
            </a:r>
            <a:endParaRPr lang="en-US" sz="1700" dirty="0"/>
          </a:p>
        </p:txBody>
      </p:sp>
      <p:sp>
        <p:nvSpPr>
          <p:cNvPr id="20" name="Head and body note"/>
          <p:cNvSpPr txBox="1"/>
          <p:nvPr/>
        </p:nvSpPr>
        <p:spPr>
          <a:xfrm>
            <a:off x="548640" y="5394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r>
              <a:rPr lang="en-US" sz="1800" dirty="0">
                <a:solidFill>
                  <a:schemeClr val="tx1"/>
                </a:solidFill>
              </a:rPr>
              <a:t> = info </a:t>
            </a:r>
            <a:r>
              <a:rPr lang="en-US" sz="1800" b="1" dirty="0">
                <a:solidFill>
                  <a:schemeClr val="tx1"/>
                </a:solidFill>
              </a:rPr>
              <a:t>about</a:t>
            </a:r>
            <a:r>
              <a:rPr lang="en-US" sz="1800" dirty="0">
                <a:solidFill>
                  <a:schemeClr val="tx1"/>
                </a:solidFill>
              </a:rPr>
              <a:t> the page. It's boilerplate that almost every site has.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r>
              <a:rPr lang="en-US" sz="1800" dirty="0">
                <a:solidFill>
                  <a:schemeClr val="tx1"/>
                </a:solidFill>
              </a:rPr>
              <a:t> = everything you can </a:t>
            </a:r>
            <a:r>
              <a:rPr lang="en-US" sz="1800" b="1" dirty="0">
                <a:solidFill>
                  <a:schemeClr val="tx1"/>
                </a:solidFill>
              </a:rPr>
              <a:t>see</a:t>
            </a:r>
            <a:r>
              <a:rPr lang="en-US" sz="1800" dirty="0">
                <a:solidFill>
                  <a:schemeClr val="tx1"/>
                </a:solidFill>
              </a:rPr>
              <a:t>. This is where we'll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20345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HTML  ·  STEP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Change your name and bio</a:t>
            </a:r>
            <a:endParaRPr lang="en-US" sz="3400" dirty="0"/>
          </a:p>
        </p:txBody>
      </p:sp>
      <p:sp>
        <p:nvSpPr>
          <p:cNvPr id="4" name="Step 1 editor"/>
          <p:cNvSpPr/>
          <p:nvPr/>
        </p:nvSpPr>
        <p:spPr>
          <a:xfrm>
            <a:off x="548640" y="1828800"/>
            <a:ext cx="11091672" cy="1935480"/>
          </a:xfrm>
          <a:prstGeom prst="roundRect">
            <a:avLst>
              <a:gd name="adj" fmla="val 70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1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1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1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1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Step 1 highlight"/>
          <p:cNvSpPr/>
          <p:nvPr/>
        </p:nvSpPr>
        <p:spPr>
          <a:xfrm>
            <a:off x="731520" y="2377440"/>
            <a:ext cx="10725912" cy="392176"/>
          </a:xfrm>
          <a:prstGeom prst="roundRect">
            <a:avLst>
              <a:gd name="adj" fmla="val 13990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Step 1 highlight"/>
          <p:cNvSpPr/>
          <p:nvPr/>
        </p:nvSpPr>
        <p:spPr>
          <a:xfrm>
            <a:off x="731520" y="2733040"/>
            <a:ext cx="10725912" cy="392176"/>
          </a:xfrm>
          <a:prstGeom prst="roundRect">
            <a:avLst>
              <a:gd name="adj" fmla="val 13990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1" name="Step 1 highlight"/>
          <p:cNvSpPr/>
          <p:nvPr/>
        </p:nvSpPr>
        <p:spPr>
          <a:xfrm>
            <a:off x="731520" y="3088640"/>
            <a:ext cx="10725912" cy="392176"/>
          </a:xfrm>
          <a:prstGeom prst="roundRect">
            <a:avLst>
              <a:gd name="adj" fmla="val 13990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2" name="Step 1 code"/>
          <p:cNvSpPr txBox="1"/>
          <p:nvPr/>
        </p:nvSpPr>
        <p:spPr>
          <a:xfrm>
            <a:off x="914400" y="2395728"/>
            <a:ext cx="1045159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 Name | Links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 Name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"bio"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 short sentence about who you are.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Do this label"/>
          <p:cNvSpPr txBox="1"/>
          <p:nvPr/>
        </p:nvSpPr>
        <p:spPr>
          <a:xfrm>
            <a:off x="548640" y="403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DO THIS</a:t>
            </a:r>
            <a:endParaRPr lang="en-US" sz="1400" dirty="0"/>
          </a:p>
        </p:txBody>
      </p:sp>
      <p:sp>
        <p:nvSpPr>
          <p:cNvPr id="14" name="Steps"/>
          <p:cNvSpPr txBox="1"/>
          <p:nvPr/>
        </p:nvSpPr>
        <p:spPr>
          <a:xfrm>
            <a:off x="548640" y="4450080"/>
            <a:ext cx="566928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Change </a:t>
            </a:r>
            <a:r>
              <a:rPr lang="en-US" sz="1800" b="1" dirty="0">
                <a:solidFill>
                  <a:schemeClr val="tx1"/>
                </a:solidFill>
              </a:rPr>
              <a:t>Your Name</a:t>
            </a:r>
            <a:r>
              <a:rPr lang="en-US" sz="1800" dirty="0">
                <a:solidFill>
                  <a:schemeClr val="tx1"/>
                </a:solidFill>
              </a:rPr>
              <a:t> in the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800" dirty="0">
                <a:solidFill>
                  <a:schemeClr val="tx1"/>
                </a:solidFill>
              </a:rPr>
              <a:t> to your name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Write a short bio in the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Change the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r>
              <a:rPr lang="en-US" sz="1800" dirty="0">
                <a:solidFill>
                  <a:schemeClr val="tx1"/>
                </a:solidFill>
              </a:rPr>
              <a:t> too (it's the text on the browser tab)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Save → Refresh</a:t>
            </a:r>
            <a:endParaRPr lang="en-US" sz="1800" dirty="0"/>
          </a:p>
        </p:txBody>
      </p:sp>
      <p:sp>
        <p:nvSpPr>
          <p:cNvPr id="15" name="Watch out card"/>
          <p:cNvSpPr/>
          <p:nvPr/>
        </p:nvSpPr>
        <p:spPr>
          <a:xfrm>
            <a:off x="6583680" y="4038600"/>
            <a:ext cx="5056632" cy="2133600"/>
          </a:xfrm>
          <a:prstGeom prst="roundRect">
            <a:avLst>
              <a:gd name="adj" fmla="val 6429"/>
            </a:avLst>
          </a:prstGeom>
          <a:solidFill>
            <a:schemeClr val="accent5">
              <a:alpha val="28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pic>
        <p:nvPicPr>
          <p:cNvPr id="16" name="Watch out icon" descr="Watch 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239768"/>
            <a:ext cx="292608" cy="292608"/>
          </a:xfrm>
          <a:prstGeom prst="rect">
            <a:avLst/>
          </a:prstGeom>
        </p:spPr>
      </p:pic>
      <p:sp>
        <p:nvSpPr>
          <p:cNvPr id="17" name="Watch out heading"/>
          <p:cNvSpPr txBox="1"/>
          <p:nvPr/>
        </p:nvSpPr>
        <p:spPr>
          <a:xfrm>
            <a:off x="7223760" y="419404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Watch out</a:t>
            </a:r>
            <a:endParaRPr lang="en-US" sz="1800" dirty="0"/>
          </a:p>
        </p:txBody>
      </p:sp>
      <p:sp>
        <p:nvSpPr>
          <p:cNvPr id="18" name="Watch out text"/>
          <p:cNvSpPr txBox="1"/>
          <p:nvPr/>
        </p:nvSpPr>
        <p:spPr>
          <a:xfrm>
            <a:off x="6858000" y="4660392"/>
            <a:ext cx="4599432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change the text </a:t>
            </a:r>
            <a:r>
              <a:rPr lang="en-US" sz="1600" b="1" dirty="0">
                <a:solidFill>
                  <a:schemeClr val="tx1"/>
                </a:solidFill>
              </a:rPr>
              <a:t>between</a:t>
            </a:r>
            <a:r>
              <a:rPr lang="en-US" sz="1600" dirty="0">
                <a:solidFill>
                  <a:schemeClr val="tx1"/>
                </a:solidFill>
              </a:rPr>
              <a:t> the tags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 every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600" dirty="0">
                <a:solidFill>
                  <a:schemeClr val="tx1"/>
                </a:solidFill>
              </a:rPr>
              <a:t>, and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20345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HTML  ·  STEP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Add your links</a:t>
            </a:r>
            <a:endParaRPr lang="en-US" sz="3400" dirty="0"/>
          </a:p>
        </p:txBody>
      </p:sp>
      <p:sp>
        <p:nvSpPr>
          <p:cNvPr id="4" name="Step 2 editor"/>
          <p:cNvSpPr/>
          <p:nvPr/>
        </p:nvSpPr>
        <p:spPr>
          <a:xfrm>
            <a:off x="548640" y="1828800"/>
            <a:ext cx="11091672" cy="2849880"/>
          </a:xfrm>
          <a:prstGeom prst="roundRect">
            <a:avLst>
              <a:gd name="adj" fmla="val 481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2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2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2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2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Step 2 highlight"/>
          <p:cNvSpPr/>
          <p:nvPr/>
        </p:nvSpPr>
        <p:spPr>
          <a:xfrm>
            <a:off x="731520" y="3698240"/>
            <a:ext cx="10725912" cy="366776"/>
          </a:xfrm>
          <a:prstGeom prst="roundRect">
            <a:avLst>
              <a:gd name="adj" fmla="val 14958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Step 2 code"/>
          <p:cNvSpPr txBox="1"/>
          <p:nvPr/>
        </p:nvSpPr>
        <p:spPr>
          <a:xfrm>
            <a:off x="914400" y="2395728"/>
            <a:ext cx="10451592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"links"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"link"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"https://github.com"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 GitHub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"link"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"https://linkedin.com"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💼 LinkedIn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"link"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"https://instagram.com"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📸 Instagram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"link"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"mailto:you@example.com"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✉️ Email Me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</p:txBody>
      </p:sp>
      <p:sp>
        <p:nvSpPr>
          <p:cNvPr id="11" name="Do this label"/>
          <p:cNvSpPr txBox="1"/>
          <p:nvPr/>
        </p:nvSpPr>
        <p:spPr>
          <a:xfrm>
            <a:off x="548640" y="495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DO THIS</a:t>
            </a:r>
            <a:endParaRPr lang="en-US" sz="1400" dirty="0"/>
          </a:p>
        </p:txBody>
      </p:sp>
      <p:sp>
        <p:nvSpPr>
          <p:cNvPr id="12" name="Steps"/>
          <p:cNvSpPr txBox="1"/>
          <p:nvPr/>
        </p:nvSpPr>
        <p:spPr>
          <a:xfrm>
            <a:off x="548640" y="5364480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where</a:t>
            </a:r>
            <a:r>
              <a:rPr lang="en-US" sz="1800" dirty="0">
                <a:solidFill>
                  <a:schemeClr val="tx1"/>
                </a:solidFill>
              </a:rPr>
              <a:t> the link goes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The text between the tags = what people </a:t>
            </a:r>
            <a:r>
              <a:rPr lang="en-US" sz="1800" b="1" dirty="0">
                <a:solidFill>
                  <a:schemeClr val="tx1"/>
                </a:solidFill>
              </a:rPr>
              <a:t>see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To add a link, copy a whole line and change it</a:t>
            </a:r>
            <a:endParaRPr lang="en-US" sz="1800" dirty="0"/>
          </a:p>
        </p:txBody>
      </p:sp>
      <p:sp>
        <p:nvSpPr>
          <p:cNvPr id="13" name="Watch out card"/>
          <p:cNvSpPr/>
          <p:nvPr/>
        </p:nvSpPr>
        <p:spPr>
          <a:xfrm>
            <a:off x="6583680" y="4953000"/>
            <a:ext cx="5056632" cy="1219200"/>
          </a:xfrm>
          <a:prstGeom prst="roundRect">
            <a:avLst>
              <a:gd name="adj" fmla="val 11250"/>
            </a:avLst>
          </a:prstGeom>
          <a:solidFill>
            <a:schemeClr val="accent5">
              <a:alpha val="28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pic>
        <p:nvPicPr>
          <p:cNvPr id="14" name="Watch out icon" descr="Watch 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5154168"/>
            <a:ext cx="292608" cy="292608"/>
          </a:xfrm>
          <a:prstGeom prst="rect">
            <a:avLst/>
          </a:prstGeom>
        </p:spPr>
      </p:pic>
      <p:sp>
        <p:nvSpPr>
          <p:cNvPr id="15" name="Watch out heading"/>
          <p:cNvSpPr txBox="1"/>
          <p:nvPr/>
        </p:nvSpPr>
        <p:spPr>
          <a:xfrm>
            <a:off x="7223760" y="510844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Watch out</a:t>
            </a:r>
            <a:endParaRPr lang="en-US" sz="1800" dirty="0"/>
          </a:p>
        </p:txBody>
      </p:sp>
      <p:sp>
        <p:nvSpPr>
          <p:cNvPr id="16" name="Watch out text"/>
          <p:cNvSpPr txBox="1"/>
          <p:nvPr/>
        </p:nvSpPr>
        <p:spPr>
          <a:xfrm>
            <a:off x="6858000" y="5574792"/>
            <a:ext cx="45994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URLs must start with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Whole page turned into a link? A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r>
              <a:rPr lang="en-US" sz="1600" dirty="0">
                <a:solidFill>
                  <a:schemeClr val="tx1"/>
                </a:solidFill>
              </a:rPr>
              <a:t> is missing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20345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HTML  ·  STEP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Add your profile picture</a:t>
            </a:r>
            <a:endParaRPr lang="en-US" sz="3400" dirty="0"/>
          </a:p>
        </p:txBody>
      </p:sp>
      <p:sp>
        <p:nvSpPr>
          <p:cNvPr id="4" name="Step 3 editor"/>
          <p:cNvSpPr/>
          <p:nvPr/>
        </p:nvSpPr>
        <p:spPr>
          <a:xfrm>
            <a:off x="548640" y="1828800"/>
            <a:ext cx="11091672" cy="2291080"/>
          </a:xfrm>
          <a:prstGeom prst="roundRect">
            <a:avLst>
              <a:gd name="adj" fmla="val 59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3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3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3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3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Step 3 highlight"/>
          <p:cNvSpPr/>
          <p:nvPr/>
        </p:nvSpPr>
        <p:spPr>
          <a:xfrm>
            <a:off x="731520" y="3444240"/>
            <a:ext cx="10725912" cy="392176"/>
          </a:xfrm>
          <a:prstGeom prst="roundRect">
            <a:avLst>
              <a:gd name="adj" fmla="val 13990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Step 3 code"/>
          <p:cNvSpPr txBox="1"/>
          <p:nvPr/>
        </p:nvSpPr>
        <p:spPr>
          <a:xfrm>
            <a:off x="914400" y="2395728"/>
            <a:ext cx="1045159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"avatar"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"profile.svg"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"Profile picture"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1">
                    <a:alpha val="5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 change src to your photo's exact file name --&gt;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"avatar"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"me.jpg"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2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"Photo of me"</a:t>
            </a: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Do this label"/>
          <p:cNvSpPr txBox="1"/>
          <p:nvPr/>
        </p:nvSpPr>
        <p:spPr>
          <a:xfrm>
            <a:off x="548640" y="4394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DO THIS</a:t>
            </a:r>
            <a:endParaRPr lang="en-US" sz="1400" dirty="0"/>
          </a:p>
        </p:txBody>
      </p:sp>
      <p:sp>
        <p:nvSpPr>
          <p:cNvPr id="12" name="Steps"/>
          <p:cNvSpPr txBox="1"/>
          <p:nvPr/>
        </p:nvSpPr>
        <p:spPr>
          <a:xfrm>
            <a:off x="548640" y="4805680"/>
            <a:ext cx="566928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Copy your photo </a:t>
            </a:r>
            <a:r>
              <a:rPr lang="en-US" sz="1800" b="1" dirty="0">
                <a:solidFill>
                  <a:schemeClr val="tx1"/>
                </a:solidFill>
              </a:rPr>
              <a:t>into</a:t>
            </a:r>
            <a:r>
              <a:rPr lang="en-US" sz="1800" dirty="0">
                <a:solidFill>
                  <a:schemeClr val="tx1"/>
                </a:solidFill>
              </a:rPr>
              <a:t> the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linktree-starter</a:t>
            </a:r>
            <a:r>
              <a:rPr lang="en-US" sz="1800" dirty="0">
                <a:solidFill>
                  <a:schemeClr val="tx1"/>
                </a:solidFill>
              </a:rPr>
              <a:t> folder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Change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800" dirty="0">
                <a:solidFill>
                  <a:schemeClr val="tx1"/>
                </a:solidFill>
              </a:rPr>
              <a:t> to its exact file name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Save → Refresh</a:t>
            </a:r>
            <a:endParaRPr lang="en-US" sz="1800" dirty="0"/>
          </a:p>
        </p:txBody>
      </p:sp>
      <p:sp>
        <p:nvSpPr>
          <p:cNvPr id="13" name="Step note"/>
          <p:cNvSpPr txBox="1"/>
          <p:nvPr/>
        </p:nvSpPr>
        <p:spPr>
          <a:xfrm>
            <a:off x="548640" y="5760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r>
              <a:rPr lang="en-US" sz="1700" dirty="0">
                <a:solidFill>
                  <a:schemeClr val="tx2"/>
                </a:solidFill>
              </a:rPr>
              <a:t> has no closing tag. </a:t>
            </a: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700" dirty="0">
                <a:solidFill>
                  <a:schemeClr val="tx2"/>
                </a:solidFill>
              </a:rPr>
              <a:t> describes the picture.</a:t>
            </a:r>
            <a:endParaRPr lang="en-US" sz="1700" dirty="0"/>
          </a:p>
        </p:txBody>
      </p:sp>
      <p:sp>
        <p:nvSpPr>
          <p:cNvPr id="14" name="Watch out card"/>
          <p:cNvSpPr/>
          <p:nvPr/>
        </p:nvSpPr>
        <p:spPr>
          <a:xfrm>
            <a:off x="6583680" y="4394200"/>
            <a:ext cx="5056632" cy="1778000"/>
          </a:xfrm>
          <a:prstGeom prst="roundRect">
            <a:avLst>
              <a:gd name="adj" fmla="val 7714"/>
            </a:avLst>
          </a:prstGeom>
          <a:solidFill>
            <a:schemeClr val="accent5">
              <a:alpha val="28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pic>
        <p:nvPicPr>
          <p:cNvPr id="15" name="Watch out icon" descr="Watch 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595368"/>
            <a:ext cx="292608" cy="292608"/>
          </a:xfrm>
          <a:prstGeom prst="rect">
            <a:avLst/>
          </a:prstGeom>
        </p:spPr>
      </p:pic>
      <p:sp>
        <p:nvSpPr>
          <p:cNvPr id="16" name="Watch out heading"/>
          <p:cNvSpPr txBox="1"/>
          <p:nvPr/>
        </p:nvSpPr>
        <p:spPr>
          <a:xfrm>
            <a:off x="7223760" y="454964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Watch out</a:t>
            </a:r>
            <a:endParaRPr lang="en-US" sz="1800" dirty="0"/>
          </a:p>
        </p:txBody>
      </p:sp>
      <p:sp>
        <p:nvSpPr>
          <p:cNvPr id="17" name="Watch out text"/>
          <p:cNvSpPr txBox="1"/>
          <p:nvPr/>
        </p:nvSpPr>
        <p:spPr>
          <a:xfrm>
            <a:off x="6858000" y="5015992"/>
            <a:ext cx="45994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Me.JPG</a:t>
            </a:r>
            <a:r>
              <a:rPr lang="en-US" sz="1600" dirty="0">
                <a:solidFill>
                  <a:schemeClr val="tx1"/>
                </a:solidFill>
              </a:rPr>
              <a:t> ≠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me.jpg</a:t>
            </a:r>
            <a:r>
              <a:rPr lang="en-US" sz="1600" dirty="0">
                <a:solidFill>
                  <a:schemeClr val="tx1"/>
                </a:solidFill>
              </a:rPr>
              <a:t>: names must match exactly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Windows hides extensions: View → Show → File name extensions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iPhone </a:t>
            </a: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.HEIC</a:t>
            </a:r>
            <a:r>
              <a:rPr lang="en-US" sz="1600" dirty="0">
                <a:solidFill>
                  <a:schemeClr val="tx1"/>
                </a:solidFill>
              </a:rPr>
              <a:t> photos won't show. Use JPG or PNG.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ckpoint circle"/>
          <p:cNvSpPr/>
          <p:nvPr/>
        </p:nvSpPr>
        <p:spPr>
          <a:xfrm>
            <a:off x="5410048" y="1234440"/>
            <a:ext cx="1371600" cy="13716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Checkpoint icon" descr="Check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948" y="157734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8803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HTML done!</a:t>
            </a:r>
            <a:endParaRPr lang="en-US" sz="4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4023360"/>
            <a:ext cx="9994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Everything on your page is now your content. Is your picture enormous? Good, CSS fixes that next.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914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</a:rPr>
              <a:t>03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CSS: the style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Turn a plain page into a real link page</a:t>
            </a:r>
            <a:endParaRPr lang="en-US" sz="2200" dirty="0"/>
          </a:p>
        </p:txBody>
      </p:sp>
      <p:pic>
        <p:nvPicPr>
          <p:cNvPr id="6" name="Before screenshot" descr="The page with no CSS: plain black text on white and a square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681686"/>
            <a:ext cx="1783080" cy="1037428"/>
          </a:xfrm>
          <a:prstGeom prst="rect">
            <a:avLst/>
          </a:prstGeom>
        </p:spPr>
      </p:pic>
      <p:sp>
        <p:nvSpPr>
          <p:cNvPr id="7" name="Before label"/>
          <p:cNvSpPr txBox="1"/>
          <p:nvPr/>
        </p:nvSpPr>
        <p:spPr>
          <a:xfrm>
            <a:off x="6309360" y="381055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before</a:t>
            </a:r>
            <a:endParaRPr lang="en-US" sz="1600" dirty="0"/>
          </a:p>
        </p:txBody>
      </p:sp>
      <p:sp>
        <p:nvSpPr>
          <p:cNvPr id="8" name="Before to after arrow"/>
          <p:cNvSpPr/>
          <p:nvPr/>
        </p:nvSpPr>
        <p:spPr>
          <a:xfrm>
            <a:off x="8156448" y="3200400"/>
            <a:ext cx="25603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9" name="After phone frame"/>
          <p:cNvSpPr/>
          <p:nvPr/>
        </p:nvSpPr>
        <p:spPr>
          <a:xfrm>
            <a:off x="8503920" y="1188720"/>
            <a:ext cx="3230238" cy="4023360"/>
          </a:xfrm>
          <a:prstGeom prst="roundRect">
            <a:avLst>
              <a:gd name="adj" fmla="val 84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After screenshot" descr="Screenshot of the finished link page: a round profile picture, a name, a short bio, and rounded blue link buttons on a dark backgrou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1316736"/>
            <a:ext cx="2974206" cy="3767328"/>
          </a:xfrm>
          <a:prstGeom prst="rect">
            <a:avLst/>
          </a:prstGeom>
        </p:spPr>
      </p:pic>
      <p:sp>
        <p:nvSpPr>
          <p:cNvPr id="11" name="After label"/>
          <p:cNvSpPr txBox="1"/>
          <p:nvPr/>
        </p:nvSpPr>
        <p:spPr>
          <a:xfrm>
            <a:off x="8503920" y="5303520"/>
            <a:ext cx="32302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after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77266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Anatomy of a CSS rule</a:t>
            </a:r>
            <a:endParaRPr lang="en-US" sz="3400" dirty="0"/>
          </a:p>
        </p:txBody>
      </p:sp>
      <p:sp>
        <p:nvSpPr>
          <p:cNvPr id="4" name="Rule example editor"/>
          <p:cNvSpPr/>
          <p:nvPr/>
        </p:nvSpPr>
        <p:spPr>
          <a:xfrm>
            <a:off x="548640" y="1874520"/>
            <a:ext cx="6949440" cy="2545080"/>
          </a:xfrm>
          <a:prstGeom prst="roundRect">
            <a:avLst>
              <a:gd name="adj" fmla="val 53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Rule example window dot"/>
          <p:cNvSpPr/>
          <p:nvPr/>
        </p:nvSpPr>
        <p:spPr>
          <a:xfrm>
            <a:off x="822960" y="207568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Rule example window dot"/>
          <p:cNvSpPr/>
          <p:nvPr/>
        </p:nvSpPr>
        <p:spPr>
          <a:xfrm>
            <a:off x="1051560" y="207568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Rule example window dot"/>
          <p:cNvSpPr/>
          <p:nvPr/>
        </p:nvSpPr>
        <p:spPr>
          <a:xfrm>
            <a:off x="1280160" y="207568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Rule example file name"/>
          <p:cNvSpPr txBox="1"/>
          <p:nvPr/>
        </p:nvSpPr>
        <p:spPr>
          <a:xfrm>
            <a:off x="1600200" y="1984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Rule example code"/>
          <p:cNvSpPr txBox="1"/>
          <p:nvPr/>
        </p:nvSpPr>
        <p:spPr>
          <a:xfrm>
            <a:off x="914400" y="2441448"/>
            <a:ext cx="630936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3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3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3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3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r>
              <a:rPr lang="en-US" sz="3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3000" dirty="0"/>
          </a:p>
        </p:txBody>
      </p:sp>
      <p:sp>
        <p:nvSpPr>
          <p:cNvPr id="10" name="selector chip"/>
          <p:cNvSpPr txBox="1"/>
          <p:nvPr/>
        </p:nvSpPr>
        <p:spPr>
          <a:xfrm>
            <a:off x="7863840" y="192024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selector</a:t>
            </a:r>
            <a:endParaRPr lang="en-US" sz="1800" dirty="0"/>
          </a:p>
        </p:txBody>
      </p:sp>
      <p:sp>
        <p:nvSpPr>
          <p:cNvPr id="11" name="selector meaning"/>
          <p:cNvSpPr txBox="1"/>
          <p:nvPr/>
        </p:nvSpPr>
        <p:spPr>
          <a:xfrm>
            <a:off x="9601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who gets styled</a:t>
            </a:r>
            <a:endParaRPr lang="en-US" sz="1900" dirty="0"/>
          </a:p>
        </p:txBody>
      </p:sp>
      <p:sp>
        <p:nvSpPr>
          <p:cNvPr id="12" name="property chip"/>
          <p:cNvSpPr txBox="1"/>
          <p:nvPr/>
        </p:nvSpPr>
        <p:spPr>
          <a:xfrm>
            <a:off x="7863840" y="269748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property</a:t>
            </a:r>
            <a:endParaRPr lang="en-US" sz="1800" dirty="0"/>
          </a:p>
        </p:txBody>
      </p:sp>
      <p:sp>
        <p:nvSpPr>
          <p:cNvPr id="13" name="property meaning"/>
          <p:cNvSpPr txBox="1"/>
          <p:nvPr/>
        </p:nvSpPr>
        <p:spPr>
          <a:xfrm>
            <a:off x="960120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what to change</a:t>
            </a:r>
            <a:endParaRPr lang="en-US" sz="1900" dirty="0"/>
          </a:p>
        </p:txBody>
      </p:sp>
      <p:sp>
        <p:nvSpPr>
          <p:cNvPr id="14" name="value chip"/>
          <p:cNvSpPr txBox="1"/>
          <p:nvPr/>
        </p:nvSpPr>
        <p:spPr>
          <a:xfrm>
            <a:off x="7863840" y="347472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value</a:t>
            </a:r>
            <a:endParaRPr lang="en-US" sz="1800" dirty="0"/>
          </a:p>
        </p:txBody>
      </p:sp>
      <p:sp>
        <p:nvSpPr>
          <p:cNvPr id="15" name="value meaning"/>
          <p:cNvSpPr txBox="1"/>
          <p:nvPr/>
        </p:nvSpPr>
        <p:spPr>
          <a:xfrm>
            <a:off x="960120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what to change it to</a:t>
            </a:r>
            <a:endParaRPr lang="en-US" sz="1900" dirty="0"/>
          </a:p>
        </p:txBody>
      </p:sp>
      <p:sp>
        <p:nvSpPr>
          <p:cNvPr id="16" name="{ } card"/>
          <p:cNvSpPr/>
          <p:nvPr/>
        </p:nvSpPr>
        <p:spPr>
          <a:xfrm>
            <a:off x="548640" y="4617720"/>
            <a:ext cx="3514344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ymbol { }"/>
          <p:cNvSpPr txBox="1"/>
          <p:nvPr/>
        </p:nvSpPr>
        <p:spPr>
          <a:xfrm>
            <a:off x="777240" y="461772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4000" dirty="0"/>
          </a:p>
        </p:txBody>
      </p:sp>
      <p:sp>
        <p:nvSpPr>
          <p:cNvPr id="18" name="Symbol meaning { }"/>
          <p:cNvSpPr txBox="1"/>
          <p:nvPr/>
        </p:nvSpPr>
        <p:spPr>
          <a:xfrm>
            <a:off x="1874520" y="4617720"/>
            <a:ext cx="1959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Curly braces wrap the rule</a:t>
            </a:r>
            <a:endParaRPr lang="en-US" sz="1800" dirty="0"/>
          </a:p>
        </p:txBody>
      </p:sp>
      <p:sp>
        <p:nvSpPr>
          <p:cNvPr id="19" name=": card"/>
          <p:cNvSpPr/>
          <p:nvPr/>
        </p:nvSpPr>
        <p:spPr>
          <a:xfrm>
            <a:off x="4337304" y="4617720"/>
            <a:ext cx="3514344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ymbol :"/>
          <p:cNvSpPr txBox="1"/>
          <p:nvPr/>
        </p:nvSpPr>
        <p:spPr>
          <a:xfrm>
            <a:off x="4565904" y="461772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4000" dirty="0"/>
          </a:p>
        </p:txBody>
      </p:sp>
      <p:sp>
        <p:nvSpPr>
          <p:cNvPr id="21" name="Symbol meaning :"/>
          <p:cNvSpPr txBox="1"/>
          <p:nvPr/>
        </p:nvSpPr>
        <p:spPr>
          <a:xfrm>
            <a:off x="5663184" y="4617720"/>
            <a:ext cx="1959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colon goes after the property</a:t>
            </a:r>
            <a:endParaRPr lang="en-US" sz="1800" dirty="0"/>
          </a:p>
        </p:txBody>
      </p:sp>
      <p:sp>
        <p:nvSpPr>
          <p:cNvPr id="22" name="; card"/>
          <p:cNvSpPr/>
          <p:nvPr/>
        </p:nvSpPr>
        <p:spPr>
          <a:xfrm>
            <a:off x="8125968" y="4617720"/>
            <a:ext cx="3514344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ymbol ;"/>
          <p:cNvSpPr txBox="1"/>
          <p:nvPr/>
        </p:nvSpPr>
        <p:spPr>
          <a:xfrm>
            <a:off x="8354568" y="461772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4000" dirty="0"/>
          </a:p>
        </p:txBody>
      </p:sp>
      <p:sp>
        <p:nvSpPr>
          <p:cNvPr id="24" name="Symbol meaning ;"/>
          <p:cNvSpPr txBox="1"/>
          <p:nvPr/>
        </p:nvSpPr>
        <p:spPr>
          <a:xfrm>
            <a:off x="9451848" y="4617720"/>
            <a:ext cx="1959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semicolon ends every line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77266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Classes are name tags</a:t>
            </a:r>
            <a:endParaRPr lang="en-US" sz="3400" dirty="0"/>
          </a:p>
        </p:txBody>
      </p:sp>
      <p:sp>
        <p:nvSpPr>
          <p:cNvPr id="4" name="HTML class editor"/>
          <p:cNvSpPr/>
          <p:nvPr/>
        </p:nvSpPr>
        <p:spPr>
          <a:xfrm>
            <a:off x="548640" y="1874520"/>
            <a:ext cx="6766560" cy="1198880"/>
          </a:xfrm>
          <a:prstGeom prst="roundRect">
            <a:avLst>
              <a:gd name="adj" fmla="val 1144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HTML class window dot"/>
          <p:cNvSpPr/>
          <p:nvPr/>
        </p:nvSpPr>
        <p:spPr>
          <a:xfrm>
            <a:off x="822960" y="207568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HTML class window dot"/>
          <p:cNvSpPr/>
          <p:nvPr/>
        </p:nvSpPr>
        <p:spPr>
          <a:xfrm>
            <a:off x="1051560" y="207568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HTML class window dot"/>
          <p:cNvSpPr/>
          <p:nvPr/>
        </p:nvSpPr>
        <p:spPr>
          <a:xfrm>
            <a:off x="1280160" y="207568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HTML class file name"/>
          <p:cNvSpPr txBox="1"/>
          <p:nvPr/>
        </p:nvSpPr>
        <p:spPr>
          <a:xfrm>
            <a:off x="1600200" y="1984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HTML class code"/>
          <p:cNvSpPr txBox="1"/>
          <p:nvPr/>
        </p:nvSpPr>
        <p:spPr>
          <a:xfrm>
            <a:off x="914400" y="2441448"/>
            <a:ext cx="612648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"link"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 GitHub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900" dirty="0"/>
          </a:p>
        </p:txBody>
      </p:sp>
      <p:sp>
        <p:nvSpPr>
          <p:cNvPr id="10" name="HTML to CSS arrow"/>
          <p:cNvSpPr/>
          <p:nvPr/>
        </p:nvSpPr>
        <p:spPr>
          <a:xfrm>
            <a:off x="3931920" y="3291840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SS class editor"/>
          <p:cNvSpPr/>
          <p:nvPr/>
        </p:nvSpPr>
        <p:spPr>
          <a:xfrm>
            <a:off x="548640" y="3931920"/>
            <a:ext cx="6766560" cy="2011680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CSS class window dot"/>
          <p:cNvSpPr/>
          <p:nvPr/>
        </p:nvSpPr>
        <p:spPr>
          <a:xfrm>
            <a:off x="822960" y="413308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SS class window dot"/>
          <p:cNvSpPr/>
          <p:nvPr/>
        </p:nvSpPr>
        <p:spPr>
          <a:xfrm>
            <a:off x="1051560" y="413308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SS class window dot"/>
          <p:cNvSpPr/>
          <p:nvPr/>
        </p:nvSpPr>
        <p:spPr>
          <a:xfrm>
            <a:off x="1280160" y="413308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SS class file name"/>
          <p:cNvSpPr txBox="1"/>
          <p:nvPr/>
        </p:nvSpPr>
        <p:spPr>
          <a:xfrm>
            <a:off x="1600200" y="4041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6" name="CSS class code"/>
          <p:cNvSpPr txBox="1"/>
          <p:nvPr/>
        </p:nvSpPr>
        <p:spPr>
          <a:xfrm>
            <a:off x="914400" y="4498848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.link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2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17" name="Class explanation"/>
          <p:cNvSpPr txBox="1"/>
          <p:nvPr/>
        </p:nvSpPr>
        <p:spPr>
          <a:xfrm>
            <a:off x="7772400" y="1920240"/>
            <a:ext cx="38679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class="link"</a:t>
            </a:r>
            <a:r>
              <a:rPr lang="en-US" sz="2000" dirty="0">
                <a:solidFill>
                  <a:schemeClr val="tx1"/>
                </a:solidFill>
              </a:rPr>
              <a:t> puts a </a:t>
            </a:r>
            <a:r>
              <a:rPr lang="en-US" sz="2000" b="1" dirty="0">
                <a:solidFill>
                  <a:schemeClr val="tx1"/>
                </a:solidFill>
              </a:rPr>
              <a:t>name tag</a:t>
            </a:r>
            <a:r>
              <a:rPr lang="en-US" sz="2000" dirty="0">
                <a:solidFill>
                  <a:schemeClr val="tx1"/>
                </a:solidFill>
              </a:rPr>
              <a:t> on an HTML element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.link</a:t>
            </a:r>
            <a:r>
              <a:rPr lang="en-US" sz="2000" dirty="0">
                <a:solidFill>
                  <a:schemeClr val="tx1"/>
                </a:solidFill>
              </a:rPr>
              <a:t> in CSS styles </a:t>
            </a:r>
            <a:r>
              <a:rPr lang="en-US" sz="2000" b="1" dirty="0">
                <a:solidFill>
                  <a:schemeClr val="tx1"/>
                </a:solidFill>
              </a:rPr>
              <a:t>everything</a:t>
            </a:r>
            <a:r>
              <a:rPr lang="en-US" sz="2000" dirty="0">
                <a:solidFill>
                  <a:schemeClr val="tx1"/>
                </a:solidFill>
              </a:rPr>
              <a:t> wearing that name tag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b="1" dirty="0">
                <a:solidFill>
                  <a:schemeClr val="tx1"/>
                </a:solidFill>
              </a:rPr>
              <a:t>dot</a:t>
            </a:r>
            <a:r>
              <a:rPr lang="en-US" sz="2000" dirty="0">
                <a:solidFill>
                  <a:schemeClr val="tx1"/>
                </a:solidFill>
              </a:rPr>
              <a:t> means "class." No dot, like </a:t>
            </a: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2000" dirty="0">
                <a:solidFill>
                  <a:schemeClr val="tx1"/>
                </a:solidFill>
              </a:rPr>
              <a:t>, means every tag of that kind.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  ·  STEP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Style the whole page</a:t>
            </a:r>
            <a:endParaRPr lang="en-US" sz="3400" dirty="0"/>
          </a:p>
        </p:txBody>
      </p:sp>
      <p:sp>
        <p:nvSpPr>
          <p:cNvPr id="4" name="Step 4 editor"/>
          <p:cNvSpPr/>
          <p:nvPr/>
        </p:nvSpPr>
        <p:spPr>
          <a:xfrm>
            <a:off x="548640" y="1828800"/>
            <a:ext cx="5760720" cy="3180080"/>
          </a:xfrm>
          <a:prstGeom prst="roundRect">
            <a:avLst>
              <a:gd name="adj" fmla="val 431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4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4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4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4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Step 4 code"/>
          <p:cNvSpPr txBox="1"/>
          <p:nvPr/>
        </p:nvSpPr>
        <p:spPr>
          <a:xfrm>
            <a:off x="914400" y="2395728"/>
            <a:ext cx="5120640" cy="24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#1e1e2e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Arial, sans-serif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40px 20px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  <p:sp>
        <p:nvSpPr>
          <p:cNvPr id="10" name="You should see label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YOU SHOULD SEE</a:t>
            </a:r>
            <a:endParaRPr lang="en-US" sz="1400" dirty="0"/>
          </a:p>
        </p:txBody>
      </p:sp>
      <p:pic>
        <p:nvPicPr>
          <p:cNvPr id="11" name="Step 4 result" descr="What the page looks like after step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76272"/>
            <a:ext cx="4965192" cy="2327434"/>
          </a:xfrm>
          <a:prstGeom prst="rect">
            <a:avLst/>
          </a:prstGeom>
        </p:spPr>
      </p:pic>
      <p:sp>
        <p:nvSpPr>
          <p:cNvPr id="12" name="Key points"/>
          <p:cNvSpPr txBox="1"/>
          <p:nvPr/>
        </p:nvSpPr>
        <p:spPr>
          <a:xfrm>
            <a:off x="6675120" y="4681728"/>
            <a:ext cx="49651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#1e1e2e</a:t>
            </a:r>
            <a:r>
              <a:rPr lang="en-US" sz="1700" dirty="0">
                <a:solidFill>
                  <a:schemeClr val="tx1"/>
                </a:solidFill>
              </a:rPr>
              <a:t> is a hex color. Names like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hotpink</a:t>
            </a:r>
            <a:r>
              <a:rPr lang="en-US" sz="1700" dirty="0">
                <a:solidFill>
                  <a:schemeClr val="tx1"/>
                </a:solidFill>
              </a:rPr>
              <a:t> work too.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700" dirty="0">
                <a:solidFill>
                  <a:schemeClr val="tx1"/>
                </a:solidFill>
              </a:rPr>
              <a:t> = the </a:t>
            </a:r>
            <a:r>
              <a:rPr lang="en-US" sz="1700" b="1" dirty="0">
                <a:solidFill>
                  <a:schemeClr val="tx1"/>
                </a:solidFill>
              </a:rPr>
              <a:t>text</a:t>
            </a:r>
            <a:r>
              <a:rPr lang="en-US" sz="1700" dirty="0">
                <a:solidFill>
                  <a:schemeClr val="tx1"/>
                </a:solidFill>
              </a:rPr>
              <a:t> color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700" dirty="0">
                <a:solidFill>
                  <a:schemeClr val="tx1"/>
                </a:solidFill>
              </a:rPr>
              <a:t> = space around the edge of the page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Try it:</a:t>
            </a:r>
            <a:r>
              <a:rPr lang="en-US" sz="1700" dirty="0">
                <a:solidFill>
                  <a:schemeClr val="tx1"/>
                </a:solidFill>
              </a:rPr>
              <a:t> change the background to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hotpink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  ·  STEP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Make the profile picture round</a:t>
            </a:r>
            <a:endParaRPr lang="en-US" sz="3400" dirty="0"/>
          </a:p>
        </p:txBody>
      </p:sp>
      <p:sp>
        <p:nvSpPr>
          <p:cNvPr id="4" name="Step 5 editor"/>
          <p:cNvSpPr/>
          <p:nvPr/>
        </p:nvSpPr>
        <p:spPr>
          <a:xfrm>
            <a:off x="548640" y="1828800"/>
            <a:ext cx="5760720" cy="3180080"/>
          </a:xfrm>
          <a:prstGeom prst="roundRect">
            <a:avLst>
              <a:gd name="adj" fmla="val 431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5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5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5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5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Step 5 code"/>
          <p:cNvSpPr txBox="1"/>
          <p:nvPr/>
        </p:nvSpPr>
        <p:spPr>
          <a:xfrm>
            <a:off x="914400" y="2395728"/>
            <a:ext cx="5120640" cy="24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object-fit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 solid white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  <p:sp>
        <p:nvSpPr>
          <p:cNvPr id="10" name="You should see label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YOU SHOULD SEE</a:t>
            </a:r>
            <a:endParaRPr lang="en-US" sz="1400" dirty="0"/>
          </a:p>
        </p:txBody>
      </p:sp>
      <p:pic>
        <p:nvPicPr>
          <p:cNvPr id="11" name="Step 5 result" descr="What the page looks like after step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76272"/>
            <a:ext cx="4965192" cy="2327434"/>
          </a:xfrm>
          <a:prstGeom prst="rect">
            <a:avLst/>
          </a:prstGeom>
        </p:spPr>
      </p:pic>
      <p:sp>
        <p:nvSpPr>
          <p:cNvPr id="12" name="Key points"/>
          <p:cNvSpPr txBox="1"/>
          <p:nvPr/>
        </p:nvSpPr>
        <p:spPr>
          <a:xfrm>
            <a:off x="6675120" y="4681728"/>
            <a:ext cx="49651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r>
              <a:rPr lang="en-US" sz="1700" dirty="0">
                <a:solidFill>
                  <a:schemeClr val="tx1"/>
                </a:solidFill>
              </a:rPr>
              <a:t> = pixels, the tiny dots on your screen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50%</a:t>
            </a:r>
            <a:r>
              <a:rPr lang="en-US" sz="1700" dirty="0">
                <a:solidFill>
                  <a:schemeClr val="tx1"/>
                </a:solidFill>
              </a:rPr>
              <a:t> → a circle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object-fit: cover</a:t>
            </a:r>
            <a:r>
              <a:rPr lang="en-US" sz="1700" dirty="0">
                <a:solidFill>
                  <a:schemeClr val="tx1"/>
                </a:solidFill>
              </a:rPr>
              <a:t> → crop, don't squish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Try it: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20px;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  ·  STEP 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Turn the links into buttons</a:t>
            </a:r>
            <a:endParaRPr lang="en-US" sz="3400" dirty="0"/>
          </a:p>
        </p:txBody>
      </p:sp>
      <p:sp>
        <p:nvSpPr>
          <p:cNvPr id="4" name="Step 6 editor"/>
          <p:cNvSpPr/>
          <p:nvPr/>
        </p:nvSpPr>
        <p:spPr>
          <a:xfrm>
            <a:off x="548640" y="1828800"/>
            <a:ext cx="5760720" cy="4170680"/>
          </a:xfrm>
          <a:prstGeom prst="roundRect">
            <a:avLst>
              <a:gd name="adj" fmla="val 32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6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6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6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6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Step 6 code"/>
          <p:cNvSpPr txBox="1"/>
          <p:nvPr/>
        </p:nvSpPr>
        <p:spPr>
          <a:xfrm>
            <a:off x="914400" y="2395728"/>
            <a:ext cx="5120640" cy="339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.link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#89b4fa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#1e1e2e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  <p:sp>
        <p:nvSpPr>
          <p:cNvPr id="10" name="You should see label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YOU SHOULD SEE</a:t>
            </a:r>
            <a:endParaRPr lang="en-US" sz="1400" dirty="0"/>
          </a:p>
        </p:txBody>
      </p:sp>
      <p:pic>
        <p:nvPicPr>
          <p:cNvPr id="11" name="Step 6 result" descr="What the page looks like after step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76272"/>
            <a:ext cx="4965192" cy="2327434"/>
          </a:xfrm>
          <a:prstGeom prst="rect">
            <a:avLst/>
          </a:prstGeom>
        </p:spPr>
      </p:pic>
      <p:sp>
        <p:nvSpPr>
          <p:cNvPr id="12" name="Key points"/>
          <p:cNvSpPr txBox="1"/>
          <p:nvPr/>
        </p:nvSpPr>
        <p:spPr>
          <a:xfrm>
            <a:off x="6675120" y="4681728"/>
            <a:ext cx="49651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block</a:t>
            </a:r>
            <a:r>
              <a:rPr lang="en-US" sz="1700" dirty="0">
                <a:solidFill>
                  <a:schemeClr val="tx1"/>
                </a:solidFill>
              </a:rPr>
              <a:t> → each link gets its own row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text-decoration: none</a:t>
            </a:r>
            <a:r>
              <a:rPr lang="en-US" sz="1700" dirty="0">
                <a:solidFill>
                  <a:schemeClr val="tx1"/>
                </a:solidFill>
              </a:rPr>
              <a:t> → no underline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Uh oh:</a:t>
            </a:r>
            <a:r>
              <a:rPr lang="en-US" sz="1700" dirty="0">
                <a:solidFill>
                  <a:schemeClr val="tx1"/>
                </a:solidFill>
              </a:rPr>
              <a:t> way too wide on a laptop. Fixing that is next.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77266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Padding vs. margin</a:t>
            </a:r>
            <a:endParaRPr lang="en-US" sz="3400" dirty="0"/>
          </a:p>
        </p:txBody>
      </p:sp>
      <p:sp>
        <p:nvSpPr>
          <p:cNvPr id="4" name="Margin area"/>
          <p:cNvSpPr/>
          <p:nvPr/>
        </p:nvSpPr>
        <p:spPr>
          <a:xfrm>
            <a:off x="548640" y="1874520"/>
            <a:ext cx="6309360" cy="4251960"/>
          </a:xfrm>
          <a:prstGeom prst="roundRect">
            <a:avLst>
              <a:gd name="adj" fmla="val 3226"/>
            </a:avLst>
          </a:prstGeom>
          <a:solidFill>
            <a:schemeClr val="accent2">
              <a:alpha val="55000"/>
            </a:schemeClr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5" name="Margin label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tx1"/>
                </a:solidFill>
              </a:rPr>
              <a:t>MARGIN: space outside</a:t>
            </a:r>
            <a:endParaRPr lang="en-US" sz="1600" dirty="0"/>
          </a:p>
        </p:txBody>
      </p:sp>
      <p:sp>
        <p:nvSpPr>
          <p:cNvPr id="6" name="Button"/>
          <p:cNvSpPr/>
          <p:nvPr/>
        </p:nvSpPr>
        <p:spPr>
          <a:xfrm>
            <a:off x="1280160" y="2697480"/>
            <a:ext cx="4846320" cy="2697480"/>
          </a:xfrm>
          <a:prstGeom prst="roundRect">
            <a:avLst>
              <a:gd name="adj" fmla="val 101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adding label"/>
          <p:cNvSpPr txBox="1"/>
          <p:nvPr/>
        </p:nvSpPr>
        <p:spPr>
          <a:xfrm>
            <a:off x="15544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tx1"/>
                </a:solidFill>
              </a:rPr>
              <a:t>PADDING: space inside</a:t>
            </a:r>
            <a:endParaRPr lang="en-US" sz="1600" dirty="0"/>
          </a:p>
        </p:txBody>
      </p:sp>
      <p:sp>
        <p:nvSpPr>
          <p:cNvPr id="8" name="Content box"/>
          <p:cNvSpPr txBox="1"/>
          <p:nvPr/>
        </p:nvSpPr>
        <p:spPr>
          <a:xfrm>
            <a:off x="2331720" y="361188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GitHub</a:t>
            </a:r>
            <a:endParaRPr lang="en-US" sz="2600" dirty="0"/>
          </a:p>
        </p:txBody>
      </p:sp>
      <p:sp>
        <p:nvSpPr>
          <p:cNvPr id="9" name="Padding color key"/>
          <p:cNvSpPr/>
          <p:nvPr/>
        </p:nvSpPr>
        <p:spPr>
          <a:xfrm>
            <a:off x="7315200" y="199339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adding heading"/>
          <p:cNvSpPr txBox="1"/>
          <p:nvPr/>
        </p:nvSpPr>
        <p:spPr>
          <a:xfrm>
            <a:off x="7818120" y="1920240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Padding</a:t>
            </a:r>
            <a:endParaRPr lang="en-US" sz="2600" dirty="0"/>
          </a:p>
        </p:txBody>
      </p:sp>
      <p:sp>
        <p:nvSpPr>
          <p:cNvPr id="11" name="Padding text"/>
          <p:cNvSpPr txBox="1"/>
          <p:nvPr/>
        </p:nvSpPr>
        <p:spPr>
          <a:xfrm>
            <a:off x="7315200" y="248716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Bubble wrap </a:t>
            </a:r>
            <a:r>
              <a:rPr lang="en-US" sz="1800" b="1" dirty="0">
                <a:solidFill>
                  <a:schemeClr val="tx1"/>
                </a:solidFill>
              </a:rPr>
              <a:t>inside</a:t>
            </a:r>
            <a:r>
              <a:rPr lang="en-US" sz="1800" dirty="0">
                <a:solidFill>
                  <a:schemeClr val="tx1"/>
                </a:solidFill>
              </a:rPr>
              <a:t> the box. It makes the button bigger.</a:t>
            </a:r>
            <a:endParaRPr lang="en-US" sz="1800" dirty="0"/>
          </a:p>
        </p:txBody>
      </p:sp>
      <p:sp>
        <p:nvSpPr>
          <p:cNvPr id="12" name="Padding code"/>
          <p:cNvSpPr txBox="1"/>
          <p:nvPr/>
        </p:nvSpPr>
        <p:spPr>
          <a:xfrm>
            <a:off x="7315200" y="324612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16px;</a:t>
            </a:r>
            <a:endParaRPr lang="en-US" sz="1600" dirty="0"/>
          </a:p>
        </p:txBody>
      </p:sp>
      <p:sp>
        <p:nvSpPr>
          <p:cNvPr id="13" name="Margin color key"/>
          <p:cNvSpPr/>
          <p:nvPr/>
        </p:nvSpPr>
        <p:spPr>
          <a:xfrm>
            <a:off x="7315200" y="41422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Margin heading"/>
          <p:cNvSpPr txBox="1"/>
          <p:nvPr/>
        </p:nvSpPr>
        <p:spPr>
          <a:xfrm>
            <a:off x="7818120" y="4069080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Margin</a:t>
            </a:r>
            <a:endParaRPr lang="en-US" sz="2600" dirty="0"/>
          </a:p>
        </p:txBody>
      </p:sp>
      <p:sp>
        <p:nvSpPr>
          <p:cNvPr id="15" name="Margin text"/>
          <p:cNvSpPr txBox="1"/>
          <p:nvPr/>
        </p:nvSpPr>
        <p:spPr>
          <a:xfrm>
            <a:off x="7315200" y="46360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Personal space </a:t>
            </a:r>
            <a:r>
              <a:rPr lang="en-US" sz="1800" b="1" dirty="0">
                <a:solidFill>
                  <a:schemeClr val="tx1"/>
                </a:solidFill>
              </a:rPr>
              <a:t>outside</a:t>
            </a:r>
            <a:r>
              <a:rPr lang="en-US" sz="1800" dirty="0">
                <a:solidFill>
                  <a:schemeClr val="tx1"/>
                </a:solidFill>
              </a:rPr>
              <a:t> the box. It pushes other things away.</a:t>
            </a:r>
            <a:endParaRPr lang="en-US" sz="1800" dirty="0"/>
          </a:p>
        </p:txBody>
      </p:sp>
      <p:sp>
        <p:nvSpPr>
          <p:cNvPr id="16" name="Margin code"/>
          <p:cNvSpPr txBox="1"/>
          <p:nvPr/>
        </p:nvSpPr>
        <p:spPr>
          <a:xfrm>
            <a:off x="7315200" y="539496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margin-bottom: 12px;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  ·  STEP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Stop everything from getting too wide</a:t>
            </a:r>
            <a:endParaRPr lang="en-US" sz="3400" dirty="0"/>
          </a:p>
        </p:txBody>
      </p:sp>
      <p:sp>
        <p:nvSpPr>
          <p:cNvPr id="4" name="Step 7 editor"/>
          <p:cNvSpPr/>
          <p:nvPr/>
        </p:nvSpPr>
        <p:spPr>
          <a:xfrm>
            <a:off x="548640" y="1828800"/>
            <a:ext cx="5760720" cy="2189480"/>
          </a:xfrm>
          <a:prstGeom prst="roundRect">
            <a:avLst>
              <a:gd name="adj" fmla="val 626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7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7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7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7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Step 7 code"/>
          <p:cNvSpPr txBox="1"/>
          <p:nvPr/>
        </p:nvSpPr>
        <p:spPr>
          <a:xfrm>
            <a:off x="914400" y="2395728"/>
            <a:ext cx="5120640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2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400px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2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 auto</a:t>
            </a: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10" name="You should see label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YOU SHOULD SEE</a:t>
            </a:r>
            <a:endParaRPr lang="en-US" sz="1400" dirty="0"/>
          </a:p>
        </p:txBody>
      </p:sp>
      <p:pic>
        <p:nvPicPr>
          <p:cNvPr id="11" name="Step 7 result" descr="What the page looks like after step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76272"/>
            <a:ext cx="4965192" cy="2327434"/>
          </a:xfrm>
          <a:prstGeom prst="rect">
            <a:avLst/>
          </a:prstGeom>
        </p:spPr>
      </p:pic>
      <p:sp>
        <p:nvSpPr>
          <p:cNvPr id="12" name="Key points"/>
          <p:cNvSpPr txBox="1"/>
          <p:nvPr/>
        </p:nvSpPr>
        <p:spPr>
          <a:xfrm>
            <a:off x="6675120" y="4681728"/>
            <a:ext cx="49651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tx1"/>
                </a:solidFill>
              </a:rPr>
              <a:t>never</a:t>
            </a:r>
            <a:r>
              <a:rPr lang="en-US" sz="1700" dirty="0">
                <a:solidFill>
                  <a:schemeClr val="tx1"/>
                </a:solidFill>
              </a:rPr>
              <a:t> wider than 400px (it can still shrink on phones)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 0 auto</a:t>
            </a:r>
            <a:r>
              <a:rPr lang="en-US" sz="1700" dirty="0">
                <a:solidFill>
                  <a:schemeClr val="tx1"/>
                </a:solidFill>
              </a:rPr>
              <a:t> → split the leftover space evenly, which </a:t>
            </a:r>
            <a:r>
              <a:rPr lang="en-US" sz="1700" b="1" dirty="0">
                <a:solidFill>
                  <a:schemeClr val="tx1"/>
                </a:solidFill>
              </a:rPr>
              <a:t>centers</a:t>
            </a:r>
            <a:r>
              <a:rPr lang="en-US" sz="1700" dirty="0">
                <a:solidFill>
                  <a:schemeClr val="tx1"/>
                </a:solidFill>
              </a:rPr>
              <a:t> it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Try it:</a:t>
            </a:r>
            <a:r>
              <a:rPr lang="en-US" sz="1700" dirty="0">
                <a:solidFill>
                  <a:schemeClr val="tx1"/>
                </a:solidFill>
              </a:rPr>
              <a:t> drag your browser window narrower and wider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  ·  STEP 8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Add a hover effect</a:t>
            </a:r>
            <a:endParaRPr lang="en-US" sz="3400" dirty="0"/>
          </a:p>
        </p:txBody>
      </p:sp>
      <p:sp>
        <p:nvSpPr>
          <p:cNvPr id="4" name="Step 8 editor"/>
          <p:cNvSpPr/>
          <p:nvPr/>
        </p:nvSpPr>
        <p:spPr>
          <a:xfrm>
            <a:off x="548640" y="1828800"/>
            <a:ext cx="5760720" cy="3510280"/>
          </a:xfrm>
          <a:prstGeom prst="roundRect">
            <a:avLst>
              <a:gd name="adj" fmla="val 39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8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8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8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8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Step 8 highlight"/>
          <p:cNvSpPr/>
          <p:nvPr/>
        </p:nvSpPr>
        <p:spPr>
          <a:xfrm>
            <a:off x="731520" y="4688840"/>
            <a:ext cx="5394960" cy="366776"/>
          </a:xfrm>
          <a:prstGeom prst="roundRect">
            <a:avLst>
              <a:gd name="adj" fmla="val 14958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Step 8 code"/>
          <p:cNvSpPr txBox="1"/>
          <p:nvPr/>
        </p:nvSpPr>
        <p:spPr>
          <a:xfrm>
            <a:off x="914400" y="2395728"/>
            <a:ext cx="5120640" cy="273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.link:hover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#f5c2e7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scale(1.05)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1">
                    <a:alpha val="5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 then go back UP to .link { }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1">
                    <a:alpha val="5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and add this line inside it: */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0.2s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</p:txBody>
      </p:sp>
      <p:sp>
        <p:nvSpPr>
          <p:cNvPr id="11" name="You should see label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YOU SHOULD SEE</a:t>
            </a:r>
            <a:endParaRPr lang="en-US" sz="1400" dirty="0"/>
          </a:p>
        </p:txBody>
      </p:sp>
      <p:pic>
        <p:nvPicPr>
          <p:cNvPr id="12" name="Step 8 result" descr="What the page looks like after step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76272"/>
            <a:ext cx="4965192" cy="2327434"/>
          </a:xfrm>
          <a:prstGeom prst="rect">
            <a:avLst/>
          </a:prstGeom>
        </p:spPr>
      </p:pic>
      <p:sp>
        <p:nvSpPr>
          <p:cNvPr id="13" name="Key points"/>
          <p:cNvSpPr txBox="1"/>
          <p:nvPr/>
        </p:nvSpPr>
        <p:spPr>
          <a:xfrm>
            <a:off x="6675120" y="4681728"/>
            <a:ext cx="49651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r>
              <a:rPr lang="en-US" sz="1700" dirty="0">
                <a:solidFill>
                  <a:schemeClr val="tx1"/>
                </a:solidFill>
              </a:rPr>
              <a:t> → only while the mouse is over it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scale(1.05)</a:t>
            </a:r>
            <a:r>
              <a:rPr lang="en-US" sz="1700" dirty="0">
                <a:solidFill>
                  <a:schemeClr val="tx1"/>
                </a:solidFill>
              </a:rPr>
              <a:t> → grow to 105%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r>
              <a:rPr lang="en-US" sz="1700" dirty="0">
                <a:solidFill>
                  <a:schemeClr val="tx1"/>
                </a:solidFill>
              </a:rPr>
              <a:t> → animate the change smoothly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CSS  ·  STEP 9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Finishing touches</a:t>
            </a:r>
            <a:endParaRPr lang="en-US" sz="3400" dirty="0"/>
          </a:p>
        </p:txBody>
      </p:sp>
      <p:sp>
        <p:nvSpPr>
          <p:cNvPr id="4" name="Step 9 editor"/>
          <p:cNvSpPr/>
          <p:nvPr/>
        </p:nvSpPr>
        <p:spPr>
          <a:xfrm>
            <a:off x="548640" y="1828800"/>
            <a:ext cx="5760720" cy="3840480"/>
          </a:xfrm>
          <a:prstGeom prst="roundRect">
            <a:avLst>
              <a:gd name="adj" fmla="val 3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9 window dot"/>
          <p:cNvSpPr/>
          <p:nvPr/>
        </p:nvSpPr>
        <p:spPr>
          <a:xfrm>
            <a:off x="822960" y="202996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9 window dot"/>
          <p:cNvSpPr/>
          <p:nvPr/>
        </p:nvSpPr>
        <p:spPr>
          <a:xfrm>
            <a:off x="1051560" y="202996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9 window dot"/>
          <p:cNvSpPr/>
          <p:nvPr/>
        </p:nvSpPr>
        <p:spPr>
          <a:xfrm>
            <a:off x="1280160" y="20299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ep 9 file name"/>
          <p:cNvSpPr txBox="1"/>
          <p:nvPr/>
        </p:nvSpPr>
        <p:spPr>
          <a:xfrm>
            <a:off x="160020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9" name="Step 9 code"/>
          <p:cNvSpPr txBox="1"/>
          <p:nvPr/>
        </p:nvSpPr>
        <p:spPr>
          <a:xfrm>
            <a:off x="914400" y="2395728"/>
            <a:ext cx="5120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.bio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#bac2de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margin-top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14px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#6c7086</a:t>
            </a: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  <p:sp>
        <p:nvSpPr>
          <p:cNvPr id="10" name="You should see label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tx2"/>
                </a:solidFill>
              </a:rPr>
              <a:t>YOU SHOULD SEE</a:t>
            </a:r>
            <a:endParaRPr lang="en-US" sz="1400" dirty="0"/>
          </a:p>
        </p:txBody>
      </p:sp>
      <p:pic>
        <p:nvPicPr>
          <p:cNvPr id="11" name="Step 9 result" descr="What the page looks like after step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76272"/>
            <a:ext cx="4965192" cy="2327434"/>
          </a:xfrm>
          <a:prstGeom prst="rect">
            <a:avLst/>
          </a:prstGeom>
        </p:spPr>
      </p:pic>
      <p:sp>
        <p:nvSpPr>
          <p:cNvPr id="12" name="Key points"/>
          <p:cNvSpPr txBox="1"/>
          <p:nvPr/>
        </p:nvSpPr>
        <p:spPr>
          <a:xfrm>
            <a:off x="6675120" y="4681728"/>
            <a:ext cx="49651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softer bio color and a quieter footer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Small details like these make a design look polished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Compare yours with this screenshot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ckpoint circle"/>
          <p:cNvSpPr/>
          <p:nvPr/>
        </p:nvSpPr>
        <p:spPr>
          <a:xfrm>
            <a:off x="5410048" y="123444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Checkpoint icon" descr="Check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948" y="157734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8803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You just built a website!</a:t>
            </a:r>
            <a:endParaRPr lang="en-US" sz="4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4023360"/>
            <a:ext cx="9994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Behind? Copy style.css from linktree-finished and keep going.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9829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BONUS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 tip: experiment live with DevTools</a:t>
            </a:r>
            <a:endParaRPr lang="en-US" sz="3400" dirty="0"/>
          </a:p>
        </p:txBody>
      </p:sp>
      <p:sp>
        <p:nvSpPr>
          <p:cNvPr id="4" name="Number 1"/>
          <p:cNvSpPr txBox="1"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DevTools step 1"/>
          <p:cNvSpPr txBox="1"/>
          <p:nvPr/>
        </p:nvSpPr>
        <p:spPr>
          <a:xfrm>
            <a:off x="1371600" y="1856232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Right-click your page → </a:t>
            </a:r>
            <a:r>
              <a:rPr lang="en-US" sz="2000" b="1" dirty="0">
                <a:solidFill>
                  <a:schemeClr val="tx1"/>
                </a:solidFill>
              </a:rPr>
              <a:t>Inspect</a:t>
            </a:r>
            <a:endParaRPr lang="en-US" sz="2000" dirty="0"/>
          </a:p>
        </p:txBody>
      </p:sp>
      <p:sp>
        <p:nvSpPr>
          <p:cNvPr id="6" name="Number 2"/>
          <p:cNvSpPr txBox="1"/>
          <p:nvPr/>
        </p:nvSpPr>
        <p:spPr>
          <a:xfrm>
            <a:off x="548640" y="2953512"/>
            <a:ext cx="566928" cy="56692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DevTools step 2"/>
          <p:cNvSpPr txBox="1"/>
          <p:nvPr/>
        </p:nvSpPr>
        <p:spPr>
          <a:xfrm>
            <a:off x="1371600" y="2843784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Click an element, then change its CSS in the </a:t>
            </a:r>
            <a:r>
              <a:rPr lang="en-US" sz="2000" b="1" dirty="0">
                <a:solidFill>
                  <a:schemeClr val="tx1"/>
                </a:solidFill>
              </a:rPr>
              <a:t>Styles</a:t>
            </a:r>
            <a:r>
              <a:rPr lang="en-US" sz="2000" dirty="0">
                <a:solidFill>
                  <a:schemeClr val="tx1"/>
                </a:solidFill>
              </a:rPr>
              <a:t> panel</a:t>
            </a:r>
            <a:endParaRPr lang="en-US" sz="2000" dirty="0"/>
          </a:p>
        </p:txBody>
      </p:sp>
      <p:sp>
        <p:nvSpPr>
          <p:cNvPr id="8" name="Number 3"/>
          <p:cNvSpPr txBox="1"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9" name="DevTools step 3"/>
          <p:cNvSpPr txBox="1"/>
          <p:nvPr/>
        </p:nvSpPr>
        <p:spPr>
          <a:xfrm>
            <a:off x="1371600" y="3831336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M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+ Shift + M</a:t>
            </a:r>
            <a:r>
              <a:rPr lang="en-US" sz="2000" dirty="0">
                <a:solidFill>
                  <a:schemeClr val="tx1"/>
                </a:solidFill>
              </a:rPr>
              <a:t> on Mac) → </a:t>
            </a:r>
            <a:r>
              <a:rPr lang="en-US" sz="2000" b="1" dirty="0">
                <a:solidFill>
                  <a:schemeClr val="tx1"/>
                </a:solidFill>
              </a:rPr>
              <a:t>phone view</a:t>
            </a:r>
            <a:endParaRPr lang="en-US" sz="2000" dirty="0"/>
          </a:p>
        </p:txBody>
      </p:sp>
      <p:sp>
        <p:nvSpPr>
          <p:cNvPr id="10" name="Number 4"/>
          <p:cNvSpPr txBox="1"/>
          <p:nvPr/>
        </p:nvSpPr>
        <p:spPr>
          <a:xfrm>
            <a:off x="548640" y="4928616"/>
            <a:ext cx="566928" cy="56692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DevTools step 4"/>
          <p:cNvSpPr txBox="1"/>
          <p:nvPr/>
        </p:nvSpPr>
        <p:spPr>
          <a:xfrm>
            <a:off x="1371600" y="481888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Changes </a:t>
            </a:r>
            <a:r>
              <a:rPr lang="en-US" sz="2000" b="1" dirty="0">
                <a:solidFill>
                  <a:schemeClr val="tx1"/>
                </a:solidFill>
              </a:rPr>
              <a:t>disappear</a:t>
            </a:r>
            <a:r>
              <a:rPr lang="en-US" sz="2000" dirty="0">
                <a:solidFill>
                  <a:schemeClr val="tx1"/>
                </a:solidFill>
              </a:rPr>
              <a:t> on refresh. Copy what you like into </a:t>
            </a: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Phone view phone frame"/>
          <p:cNvSpPr/>
          <p:nvPr/>
        </p:nvSpPr>
        <p:spPr>
          <a:xfrm>
            <a:off x="8229600" y="1783080"/>
            <a:ext cx="3482901" cy="4343400"/>
          </a:xfrm>
          <a:prstGeom prst="roundRect">
            <a:avLst>
              <a:gd name="adj" fmla="val 78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Phone view screenshot" descr="Screenshot of the finished link page: a round profile picture, a name, a short bio, and rounded blue link buttons on a dark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1911096"/>
            <a:ext cx="3226869" cy="4087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914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6"/>
                </a:solidFill>
              </a:rPr>
              <a:t>04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Make it yours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Change colors, fonts, anything. Here are some ideas.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824228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MAKE IT YOURS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Pick a challenge</a:t>
            </a:r>
            <a:endParaRPr lang="en-US" sz="3400" dirty="0"/>
          </a:p>
        </p:txBody>
      </p:sp>
      <p:sp>
        <p:nvSpPr>
          <p:cNvPr id="4" name="Easy card"/>
          <p:cNvSpPr/>
          <p:nvPr/>
        </p:nvSpPr>
        <p:spPr>
          <a:xfrm>
            <a:off x="548640" y="1874520"/>
            <a:ext cx="3514344" cy="388620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asy label"/>
          <p:cNvSpPr txBox="1"/>
          <p:nvPr/>
        </p:nvSpPr>
        <p:spPr>
          <a:xfrm>
            <a:off x="822960" y="210312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Easy</a:t>
            </a:r>
            <a:endParaRPr lang="en-US" sz="1600" dirty="0"/>
          </a:p>
        </p:txBody>
      </p:sp>
      <p:sp>
        <p:nvSpPr>
          <p:cNvPr id="6" name="Your own color palette heading"/>
          <p:cNvSpPr txBox="1"/>
          <p:nvPr/>
        </p:nvSpPr>
        <p:spPr>
          <a:xfrm>
            <a:off x="822960" y="274320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Your own color palette</a:t>
            </a:r>
            <a:endParaRPr lang="en-US" sz="1900" dirty="0"/>
          </a:p>
        </p:txBody>
      </p:sp>
      <p:sp>
        <p:nvSpPr>
          <p:cNvPr id="7" name="Your own color palette hint"/>
          <p:cNvSpPr txBox="1"/>
          <p:nvPr/>
        </p:nvSpPr>
        <p:spPr>
          <a:xfrm>
            <a:off x="822960" y="312724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Generate one at coolors.co</a:t>
            </a:r>
            <a:endParaRPr lang="en-US" sz="1600" dirty="0"/>
          </a:p>
        </p:txBody>
      </p:sp>
      <p:sp>
        <p:nvSpPr>
          <p:cNvPr id="8" name="A different font heading"/>
          <p:cNvSpPr txBox="1"/>
          <p:nvPr/>
        </p:nvSpPr>
        <p:spPr>
          <a:xfrm>
            <a:off x="822960" y="3721608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different font</a:t>
            </a:r>
            <a:endParaRPr lang="en-US" sz="1900" dirty="0"/>
          </a:p>
        </p:txBody>
      </p:sp>
      <p:sp>
        <p:nvSpPr>
          <p:cNvPr id="9" name="A different font hint"/>
          <p:cNvSpPr txBox="1"/>
          <p:nvPr/>
        </p:nvSpPr>
        <p:spPr>
          <a:xfrm>
            <a:off x="822960" y="4105656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Try Georgia or Courier New</a:t>
            </a:r>
            <a:endParaRPr lang="en-US" sz="1600" dirty="0"/>
          </a:p>
        </p:txBody>
      </p:sp>
      <p:sp>
        <p:nvSpPr>
          <p:cNvPr id="10" name="Button shadows heading"/>
          <p:cNvSpPr txBox="1"/>
          <p:nvPr/>
        </p:nvSpPr>
        <p:spPr>
          <a:xfrm>
            <a:off x="822960" y="4700016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Button shadows</a:t>
            </a:r>
            <a:endParaRPr lang="en-US" sz="1900" dirty="0"/>
          </a:p>
        </p:txBody>
      </p:sp>
      <p:sp>
        <p:nvSpPr>
          <p:cNvPr id="11" name="Button shadows hint"/>
          <p:cNvSpPr txBox="1"/>
          <p:nvPr/>
        </p:nvSpPr>
        <p:spPr>
          <a:xfrm>
            <a:off x="822960" y="5084064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Look up box-shadow</a:t>
            </a:r>
            <a:endParaRPr lang="en-US" sz="1600" dirty="0"/>
          </a:p>
        </p:txBody>
      </p:sp>
      <p:sp>
        <p:nvSpPr>
          <p:cNvPr id="12" name="Medium card"/>
          <p:cNvSpPr/>
          <p:nvPr/>
        </p:nvSpPr>
        <p:spPr>
          <a:xfrm>
            <a:off x="4337304" y="1874520"/>
            <a:ext cx="3514344" cy="388620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edium label"/>
          <p:cNvSpPr txBox="1"/>
          <p:nvPr/>
        </p:nvSpPr>
        <p:spPr>
          <a:xfrm>
            <a:off x="4611624" y="210312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Medium</a:t>
            </a:r>
            <a:endParaRPr lang="en-US" sz="1600" dirty="0"/>
          </a:p>
        </p:txBody>
      </p:sp>
      <p:sp>
        <p:nvSpPr>
          <p:cNvPr id="14" name="Gradient background heading"/>
          <p:cNvSpPr txBox="1"/>
          <p:nvPr/>
        </p:nvSpPr>
        <p:spPr>
          <a:xfrm>
            <a:off x="4611624" y="274320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Gradient background</a:t>
            </a:r>
            <a:endParaRPr lang="en-US" sz="1900" dirty="0"/>
          </a:p>
        </p:txBody>
      </p:sp>
      <p:sp>
        <p:nvSpPr>
          <p:cNvPr id="15" name="Gradient background hint"/>
          <p:cNvSpPr txBox="1"/>
          <p:nvPr/>
        </p:nvSpPr>
        <p:spPr>
          <a:xfrm>
            <a:off x="4611624" y="312724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linear-gradient</a:t>
            </a:r>
            <a:endParaRPr lang="en-US" sz="1600" dirty="0"/>
          </a:p>
        </p:txBody>
      </p:sp>
      <p:sp>
        <p:nvSpPr>
          <p:cNvPr id="16" name="Open links in a new tab heading"/>
          <p:cNvSpPr txBox="1"/>
          <p:nvPr/>
        </p:nvSpPr>
        <p:spPr>
          <a:xfrm>
            <a:off x="4611624" y="3721608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Open links in a new tab</a:t>
            </a:r>
            <a:endParaRPr lang="en-US" sz="1900" dirty="0"/>
          </a:p>
        </p:txBody>
      </p:sp>
      <p:sp>
        <p:nvSpPr>
          <p:cNvPr id="17" name="Open links in a new tab hint"/>
          <p:cNvSpPr txBox="1"/>
          <p:nvPr/>
        </p:nvSpPr>
        <p:spPr>
          <a:xfrm>
            <a:off x="4611624" y="4105656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target="_blank"</a:t>
            </a:r>
            <a:endParaRPr lang="en-US" sz="1600" dirty="0"/>
          </a:p>
        </p:txBody>
      </p:sp>
      <p:sp>
        <p:nvSpPr>
          <p:cNvPr id="18" name="A Google Font heading"/>
          <p:cNvSpPr txBox="1"/>
          <p:nvPr/>
        </p:nvSpPr>
        <p:spPr>
          <a:xfrm>
            <a:off x="4611624" y="4700016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Google Font</a:t>
            </a:r>
            <a:endParaRPr lang="en-US" sz="1900" dirty="0"/>
          </a:p>
        </p:txBody>
      </p:sp>
      <p:sp>
        <p:nvSpPr>
          <p:cNvPr id="19" name="A Google Font hint"/>
          <p:cNvSpPr txBox="1"/>
          <p:nvPr/>
        </p:nvSpPr>
        <p:spPr>
          <a:xfrm>
            <a:off x="4611624" y="5084064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fonts.google.com</a:t>
            </a:r>
            <a:endParaRPr lang="en-US" sz="1600" dirty="0"/>
          </a:p>
        </p:txBody>
      </p:sp>
      <p:sp>
        <p:nvSpPr>
          <p:cNvPr id="20" name="Hard card"/>
          <p:cNvSpPr/>
          <p:nvPr/>
        </p:nvSpPr>
        <p:spPr>
          <a:xfrm>
            <a:off x="8125968" y="1874520"/>
            <a:ext cx="3514344" cy="388620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Hard label"/>
          <p:cNvSpPr txBox="1"/>
          <p:nvPr/>
        </p:nvSpPr>
        <p:spPr>
          <a:xfrm>
            <a:off x="8400288" y="210312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</a:t>
            </a:r>
            <a:endParaRPr lang="en-US" sz="1600" dirty="0"/>
          </a:p>
        </p:txBody>
      </p:sp>
      <p:sp>
        <p:nvSpPr>
          <p:cNvPr id="22" name="Outline-style buttons heading"/>
          <p:cNvSpPr txBox="1"/>
          <p:nvPr/>
        </p:nvSpPr>
        <p:spPr>
          <a:xfrm>
            <a:off x="8400288" y="274320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Outline-style buttons</a:t>
            </a:r>
            <a:endParaRPr lang="en-US" sz="1900" dirty="0"/>
          </a:p>
        </p:txBody>
      </p:sp>
      <p:sp>
        <p:nvSpPr>
          <p:cNvPr id="23" name="Outline-style buttons hint"/>
          <p:cNvSpPr txBox="1"/>
          <p:nvPr/>
        </p:nvSpPr>
        <p:spPr>
          <a:xfrm>
            <a:off x="8400288" y="3127248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Transparent + border, fill on hover</a:t>
            </a:r>
            <a:endParaRPr lang="en-US" sz="1600" dirty="0"/>
          </a:p>
        </p:txBody>
      </p:sp>
      <p:sp>
        <p:nvSpPr>
          <p:cNvPr id="24" name="Group your links heading"/>
          <p:cNvSpPr txBox="1"/>
          <p:nvPr/>
        </p:nvSpPr>
        <p:spPr>
          <a:xfrm>
            <a:off x="8400288" y="3721608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Group your links</a:t>
            </a:r>
            <a:endParaRPr lang="en-US" sz="1900" dirty="0"/>
          </a:p>
        </p:txBody>
      </p:sp>
      <p:sp>
        <p:nvSpPr>
          <p:cNvPr id="25" name="Group your links hint"/>
          <p:cNvSpPr txBox="1"/>
          <p:nvPr/>
        </p:nvSpPr>
        <p:spPr>
          <a:xfrm>
            <a:off x="8400288" y="4105656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Add &lt;h2&gt; section headings</a:t>
            </a:r>
            <a:endParaRPr lang="en-US" sz="1600" dirty="0"/>
          </a:p>
        </p:txBody>
      </p:sp>
      <p:sp>
        <p:nvSpPr>
          <p:cNvPr id="26" name="Real brand icons heading"/>
          <p:cNvSpPr txBox="1"/>
          <p:nvPr/>
        </p:nvSpPr>
        <p:spPr>
          <a:xfrm>
            <a:off x="8400288" y="4700016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Real brand icons</a:t>
            </a:r>
            <a:endParaRPr lang="en-US" sz="1900" dirty="0"/>
          </a:p>
        </p:txBody>
      </p:sp>
      <p:sp>
        <p:nvSpPr>
          <p:cNvPr id="27" name="Real brand icons hint"/>
          <p:cNvSpPr txBox="1"/>
          <p:nvPr/>
        </p:nvSpPr>
        <p:spPr>
          <a:xfrm>
            <a:off x="8400288" y="5084064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Font Awesome or Simple Icons</a:t>
            </a:r>
            <a:endParaRPr lang="en-US" sz="1600" dirty="0"/>
          </a:p>
        </p:txBody>
      </p:sp>
      <p:sp>
        <p:nvSpPr>
          <p:cNvPr id="28" name="Cheat sheet note"/>
          <p:cNvSpPr txBox="1"/>
          <p:nvPr/>
        </p:nvSpPr>
        <p:spPr>
          <a:xfrm>
            <a:off x="548640" y="5852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Code for all of these is on your cheat sheet.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914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3"/>
                </a:solidFill>
              </a:rPr>
              <a:t>05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Put it online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Optional: get a real URL you can put in your bio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824228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PUT IT ONLINE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Publish with GitHub Pages</a:t>
            </a:r>
            <a:endParaRPr lang="en-US" sz="3400" dirty="0"/>
          </a:p>
        </p:txBody>
      </p:sp>
      <p:sp>
        <p:nvSpPr>
          <p:cNvPr id="4" name="Number 1"/>
          <p:cNvSpPr txBox="1"/>
          <p:nvPr/>
        </p:nvSpPr>
        <p:spPr>
          <a:xfrm>
            <a:off x="548640" y="1920240"/>
            <a:ext cx="475488" cy="4754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Publish step 1"/>
          <p:cNvSpPr txBox="1"/>
          <p:nvPr/>
        </p:nvSpPr>
        <p:spPr>
          <a:xfrm>
            <a:off x="1234440" y="1828800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github.com → </a:t>
            </a:r>
            <a:r>
              <a:rPr lang="en-US" sz="1800" b="1" dirty="0">
                <a:solidFill>
                  <a:schemeClr val="tx1"/>
                </a:solidFill>
              </a:rPr>
              <a:t>+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New repository</a:t>
            </a:r>
            <a:endParaRPr lang="en-US" sz="1800" dirty="0"/>
          </a:p>
        </p:txBody>
      </p:sp>
      <p:sp>
        <p:nvSpPr>
          <p:cNvPr id="6" name="Number 2"/>
          <p:cNvSpPr txBox="1"/>
          <p:nvPr/>
        </p:nvSpPr>
        <p:spPr>
          <a:xfrm>
            <a:off x="548640" y="2606040"/>
            <a:ext cx="475488" cy="4754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Publish step 2"/>
          <p:cNvSpPr txBox="1"/>
          <p:nvPr/>
        </p:nvSpPr>
        <p:spPr>
          <a:xfrm>
            <a:off x="1234440" y="2514600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Name it exactly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YOUR-USERNAME.github.io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Public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Create</a:t>
            </a:r>
            <a:endParaRPr lang="en-US" sz="1800" dirty="0"/>
          </a:p>
        </p:txBody>
      </p:sp>
      <p:sp>
        <p:nvSpPr>
          <p:cNvPr id="8" name="Number 3"/>
          <p:cNvSpPr txBox="1"/>
          <p:nvPr/>
        </p:nvSpPr>
        <p:spPr>
          <a:xfrm>
            <a:off x="548640" y="3291840"/>
            <a:ext cx="475488" cy="4754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Publish step 3"/>
          <p:cNvSpPr txBox="1"/>
          <p:nvPr/>
        </p:nvSpPr>
        <p:spPr>
          <a:xfrm>
            <a:off x="1234440" y="3200400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tx1"/>
                </a:solidFill>
              </a:rPr>
              <a:t>uploading an existing file</a:t>
            </a:r>
            <a:endParaRPr lang="en-US" sz="1800" dirty="0"/>
          </a:p>
        </p:txBody>
      </p:sp>
      <p:sp>
        <p:nvSpPr>
          <p:cNvPr id="10" name="Number 4"/>
          <p:cNvSpPr txBox="1"/>
          <p:nvPr/>
        </p:nvSpPr>
        <p:spPr>
          <a:xfrm>
            <a:off x="548640" y="3977640"/>
            <a:ext cx="475488" cy="4754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Publish step 4"/>
          <p:cNvSpPr txBox="1"/>
          <p:nvPr/>
        </p:nvSpPr>
        <p:spPr>
          <a:xfrm>
            <a:off x="1234440" y="3886200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Drag in your </a:t>
            </a:r>
            <a:r>
              <a:rPr lang="en-US" sz="1800" b="1" dirty="0">
                <a:solidFill>
                  <a:schemeClr val="tx1"/>
                </a:solidFill>
              </a:rPr>
              <a:t>files</a:t>
            </a:r>
            <a:r>
              <a:rPr lang="en-US" sz="1800" dirty="0">
                <a:solidFill>
                  <a:schemeClr val="tx1"/>
                </a:solidFill>
              </a:rPr>
              <a:t> (not the folder) → </a:t>
            </a:r>
            <a:r>
              <a:rPr lang="en-US" sz="1800" b="1" dirty="0">
                <a:solidFill>
                  <a:schemeClr val="tx1"/>
                </a:solidFill>
              </a:rPr>
              <a:t>Commit changes</a:t>
            </a:r>
            <a:endParaRPr lang="en-US" sz="1800" dirty="0"/>
          </a:p>
        </p:txBody>
      </p:sp>
      <p:sp>
        <p:nvSpPr>
          <p:cNvPr id="12" name="Number 5"/>
          <p:cNvSpPr txBox="1"/>
          <p:nvPr/>
        </p:nvSpPr>
        <p:spPr>
          <a:xfrm>
            <a:off x="548640" y="4663440"/>
            <a:ext cx="475488" cy="4754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3" name="Publish step 5"/>
          <p:cNvSpPr txBox="1"/>
          <p:nvPr/>
        </p:nvSpPr>
        <p:spPr>
          <a:xfrm>
            <a:off x="1234440" y="4572000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Settings → Pages</a:t>
            </a:r>
            <a:r>
              <a:rPr lang="en-US" sz="1800" dirty="0">
                <a:solidFill>
                  <a:schemeClr val="tx1"/>
                </a:solidFill>
              </a:rPr>
              <a:t>: Deploy from a branch →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(root)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Save</a:t>
            </a:r>
            <a:endParaRPr lang="en-US" sz="1800" dirty="0"/>
          </a:p>
        </p:txBody>
      </p:sp>
      <p:sp>
        <p:nvSpPr>
          <p:cNvPr id="14" name="Number 6"/>
          <p:cNvSpPr txBox="1"/>
          <p:nvPr/>
        </p:nvSpPr>
        <p:spPr>
          <a:xfrm>
            <a:off x="548640" y="5349240"/>
            <a:ext cx="475488" cy="4754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15" name="Publish step 6"/>
          <p:cNvSpPr txBox="1"/>
          <p:nvPr/>
        </p:nvSpPr>
        <p:spPr>
          <a:xfrm>
            <a:off x="1234440" y="5257800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Wait 1 to 2 minutes, then visit your URL</a:t>
            </a:r>
            <a:endParaRPr lang="en-US" sz="1800" dirty="0"/>
          </a:p>
        </p:txBody>
      </p:sp>
      <p:sp>
        <p:nvSpPr>
          <p:cNvPr id="16" name="It will be public card"/>
          <p:cNvSpPr/>
          <p:nvPr/>
        </p:nvSpPr>
        <p:spPr>
          <a:xfrm>
            <a:off x="7040880" y="1920240"/>
            <a:ext cx="4599432" cy="1463040"/>
          </a:xfrm>
          <a:prstGeom prst="roundRect">
            <a:avLst>
              <a:gd name="adj" fmla="val 9375"/>
            </a:avLst>
          </a:prstGeom>
          <a:solidFill>
            <a:schemeClr val="accent5">
              <a:alpha val="28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pic>
        <p:nvPicPr>
          <p:cNvPr id="17" name="It will be public icon" descr="It will be publ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121408"/>
            <a:ext cx="292608" cy="292608"/>
          </a:xfrm>
          <a:prstGeom prst="rect">
            <a:avLst/>
          </a:prstGeom>
        </p:spPr>
      </p:pic>
      <p:sp>
        <p:nvSpPr>
          <p:cNvPr id="18" name="It will be public heading"/>
          <p:cNvSpPr txBox="1"/>
          <p:nvPr/>
        </p:nvSpPr>
        <p:spPr>
          <a:xfrm>
            <a:off x="7680960" y="207568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It will be public</a:t>
            </a:r>
            <a:endParaRPr lang="en-US" sz="1800" dirty="0"/>
          </a:p>
        </p:txBody>
      </p:sp>
      <p:sp>
        <p:nvSpPr>
          <p:cNvPr id="19" name="It will be public text"/>
          <p:cNvSpPr txBox="1"/>
          <p:nvPr/>
        </p:nvSpPr>
        <p:spPr>
          <a:xfrm>
            <a:off x="7315200" y="254203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phone numbers, home addresses, or anything you wouldn't put on a poster</a:t>
            </a:r>
            <a:endParaRPr lang="en-US" sz="1700" dirty="0"/>
          </a:p>
        </p:txBody>
      </p:sp>
      <p:sp>
        <p:nvSpPr>
          <p:cNvPr id="20" name="Address bar"/>
          <p:cNvSpPr/>
          <p:nvPr/>
        </p:nvSpPr>
        <p:spPr>
          <a:xfrm>
            <a:off x="7040880" y="3749040"/>
            <a:ext cx="4599432" cy="685800"/>
          </a:xfrm>
          <a:prstGeom prst="roundRect">
            <a:avLst>
              <a:gd name="adj" fmla="val 49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Lock icon" descr="Secure 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59352"/>
            <a:ext cx="256032" cy="256032"/>
          </a:xfrm>
          <a:prstGeom prst="rect">
            <a:avLst/>
          </a:prstGeom>
        </p:spPr>
      </p:pic>
      <p:sp>
        <p:nvSpPr>
          <p:cNvPr id="22" name="Your URL"/>
          <p:cNvSpPr txBox="1"/>
          <p:nvPr/>
        </p:nvSpPr>
        <p:spPr>
          <a:xfrm>
            <a:off x="772668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YOUR-USERNAME.github.io</a:t>
            </a:r>
            <a:endParaRPr lang="en-US" sz="1800" dirty="0"/>
          </a:p>
        </p:txBody>
      </p:sp>
      <p:sp>
        <p:nvSpPr>
          <p:cNvPr id="23" name="URL caption"/>
          <p:cNvSpPr txBox="1"/>
          <p:nvPr/>
        </p:nvSpPr>
        <p:spPr>
          <a:xfrm>
            <a:off x="7040880" y="4572000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Your live URL. Put it in your Instagram, TikTok, or LinkedIn bio!</a:t>
            </a:r>
            <a:endParaRPr lang="en-US" sz="1700" dirty="0"/>
          </a:p>
        </p:txBody>
      </p:sp>
      <p:sp>
        <p:nvSpPr>
          <p:cNvPr id="24" name="Publish note"/>
          <p:cNvSpPr txBox="1"/>
          <p:nvPr/>
        </p:nvSpPr>
        <p:spPr>
          <a:xfrm>
            <a:off x="7040880" y="5440680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File must be named </a:t>
            </a: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500" dirty="0">
                <a:solidFill>
                  <a:schemeClr val="tx2"/>
                </a:solidFill>
              </a:rPr>
              <a:t>. Updates take a minute or two to show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548640" y="365760"/>
            <a:ext cx="108813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STUCK?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Stuck? Check these first</a:t>
            </a:r>
            <a:endParaRPr lang="en-US" sz="3400" dirty="0"/>
          </a:p>
        </p:txBody>
      </p:sp>
      <p:sp>
        <p:nvSpPr>
          <p:cNvPr id="4" name="Nothing changes card"/>
          <p:cNvSpPr/>
          <p:nvPr/>
        </p:nvSpPr>
        <p:spPr>
          <a:xfrm>
            <a:off x="548640" y="1874520"/>
            <a:ext cx="3514344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othing changes heading"/>
          <p:cNvSpPr txBox="1"/>
          <p:nvPr/>
        </p:nvSpPr>
        <p:spPr>
          <a:xfrm>
            <a:off x="822960" y="210312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Nothing changes</a:t>
            </a:r>
            <a:endParaRPr lang="en-US" sz="2000" dirty="0"/>
          </a:p>
        </p:txBody>
      </p:sp>
      <p:sp>
        <p:nvSpPr>
          <p:cNvPr id="6" name="Nothing changes fix"/>
          <p:cNvSpPr txBox="1"/>
          <p:nvPr/>
        </p:nvSpPr>
        <p:spPr>
          <a:xfrm>
            <a:off x="822960" y="2651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Did you save? Refresh? Unzip the folder first?</a:t>
            </a:r>
            <a:endParaRPr lang="en-US" sz="1700" dirty="0"/>
          </a:p>
        </p:txBody>
      </p:sp>
      <p:sp>
        <p:nvSpPr>
          <p:cNvPr id="7" name="No styling at all card"/>
          <p:cNvSpPr/>
          <p:nvPr/>
        </p:nvSpPr>
        <p:spPr>
          <a:xfrm>
            <a:off x="4337304" y="1874520"/>
            <a:ext cx="3514344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o styling at all heading"/>
          <p:cNvSpPr txBox="1"/>
          <p:nvPr/>
        </p:nvSpPr>
        <p:spPr>
          <a:xfrm>
            <a:off x="4611624" y="210312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styling at all</a:t>
            </a:r>
            <a:endParaRPr lang="en-US" sz="2000" dirty="0"/>
          </a:p>
        </p:txBody>
      </p:sp>
      <p:sp>
        <p:nvSpPr>
          <p:cNvPr id="9" name="No styling at all fix"/>
          <p:cNvSpPr txBox="1"/>
          <p:nvPr/>
        </p:nvSpPr>
        <p:spPr>
          <a:xfrm>
            <a:off x="4611624" y="2651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r>
              <a:rPr lang="en-US" sz="1700" dirty="0">
                <a:solidFill>
                  <a:schemeClr val="tx1"/>
                </a:solidFill>
              </a:rPr>
              <a:t> must be in the same folder as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700" dirty="0"/>
          </a:p>
        </p:txBody>
      </p:sp>
      <p:sp>
        <p:nvSpPr>
          <p:cNvPr id="10" name="CSS stops working partway card"/>
          <p:cNvSpPr/>
          <p:nvPr/>
        </p:nvSpPr>
        <p:spPr>
          <a:xfrm>
            <a:off x="8125968" y="1874520"/>
            <a:ext cx="3514344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SS stops working partway heading"/>
          <p:cNvSpPr txBox="1"/>
          <p:nvPr/>
        </p:nvSpPr>
        <p:spPr>
          <a:xfrm>
            <a:off x="8400288" y="210312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CSS stops working partway</a:t>
            </a:r>
            <a:endParaRPr lang="en-US" sz="2000" dirty="0"/>
          </a:p>
        </p:txBody>
      </p:sp>
      <p:sp>
        <p:nvSpPr>
          <p:cNvPr id="12" name="CSS stops working partway fix"/>
          <p:cNvSpPr txBox="1"/>
          <p:nvPr/>
        </p:nvSpPr>
        <p:spPr>
          <a:xfrm>
            <a:off x="8400288" y="2651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Look for a missing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700" dirty="0">
                <a:solidFill>
                  <a:schemeClr val="tx1"/>
                </a:solidFill>
              </a:rPr>
              <a:t>, or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700" dirty="0">
                <a:solidFill>
                  <a:schemeClr val="tx1"/>
                </a:solidFill>
              </a:rPr>
              <a:t> just above it</a:t>
            </a:r>
            <a:endParaRPr lang="en-US" sz="1700" dirty="0"/>
          </a:p>
        </p:txBody>
      </p:sp>
      <p:sp>
        <p:nvSpPr>
          <p:cNvPr id="13" name="Broken image icon card"/>
          <p:cNvSpPr/>
          <p:nvPr/>
        </p:nvSpPr>
        <p:spPr>
          <a:xfrm>
            <a:off x="548640" y="4114800"/>
            <a:ext cx="3514344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roken image icon heading"/>
          <p:cNvSpPr txBox="1"/>
          <p:nvPr/>
        </p:nvSpPr>
        <p:spPr>
          <a:xfrm>
            <a:off x="822960" y="434340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Broken image icon</a:t>
            </a:r>
            <a:endParaRPr lang="en-US" sz="2000" dirty="0"/>
          </a:p>
        </p:txBody>
      </p:sp>
      <p:sp>
        <p:nvSpPr>
          <p:cNvPr id="15" name="Broken image icon fix"/>
          <p:cNvSpPr txBox="1"/>
          <p:nvPr/>
        </p:nvSpPr>
        <p:spPr>
          <a:xfrm>
            <a:off x="822960" y="489204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File name must match exactly. Same folder? No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.HEIC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6" name="Link gives an error card"/>
          <p:cNvSpPr/>
          <p:nvPr/>
        </p:nvSpPr>
        <p:spPr>
          <a:xfrm>
            <a:off x="4337304" y="4114800"/>
            <a:ext cx="3514344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ink gives an error heading"/>
          <p:cNvSpPr txBox="1"/>
          <p:nvPr/>
        </p:nvSpPr>
        <p:spPr>
          <a:xfrm>
            <a:off x="4611624" y="434340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Link gives an error</a:t>
            </a:r>
            <a:endParaRPr lang="en-US" sz="2000" dirty="0"/>
          </a:p>
        </p:txBody>
      </p:sp>
      <p:sp>
        <p:nvSpPr>
          <p:cNvPr id="18" name="Link gives an error fix"/>
          <p:cNvSpPr txBox="1"/>
          <p:nvPr/>
        </p:nvSpPr>
        <p:spPr>
          <a:xfrm>
            <a:off x="4611624" y="489204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URLs need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r>
              <a:rPr lang="en-US" sz="1700" dirty="0">
                <a:solidFill>
                  <a:schemeClr val="tx1"/>
                </a:solidFill>
              </a:rPr>
              <a:t> at the start</a:t>
            </a:r>
            <a:endParaRPr lang="en-US" sz="1700" dirty="0"/>
          </a:p>
        </p:txBody>
      </p:sp>
      <p:sp>
        <p:nvSpPr>
          <p:cNvPr id="19" name="Everything became a link card"/>
          <p:cNvSpPr/>
          <p:nvPr/>
        </p:nvSpPr>
        <p:spPr>
          <a:xfrm>
            <a:off x="8125968" y="4114800"/>
            <a:ext cx="3514344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verything became a link heading"/>
          <p:cNvSpPr txBox="1"/>
          <p:nvPr/>
        </p:nvSpPr>
        <p:spPr>
          <a:xfrm>
            <a:off x="8400288" y="434340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Everything became a link</a:t>
            </a:r>
            <a:endParaRPr lang="en-US" sz="2000" dirty="0"/>
          </a:p>
        </p:txBody>
      </p:sp>
      <p:sp>
        <p:nvSpPr>
          <p:cNvPr id="21" name="Everything became a link fix"/>
          <p:cNvSpPr txBox="1"/>
          <p:nvPr/>
        </p:nvSpPr>
        <p:spPr>
          <a:xfrm>
            <a:off x="8400288" y="489204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You're missing a closing </a:t>
            </a: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40080" y="1325880"/>
            <a:ext cx="15087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</a:rPr>
              <a:t>YOU DID IT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Share your link!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776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Post your URL in the club chat. Next time: JavaScript, to make things do stuff.</a:t>
            </a:r>
            <a:endParaRPr lang="en-US" sz="2200" dirty="0"/>
          </a:p>
        </p:txBody>
      </p:sp>
      <p:sp>
        <p:nvSpPr>
          <p:cNvPr id="5" name="Keep learning label"/>
          <p:cNvSpPr txBox="1"/>
          <p:nvPr/>
        </p:nvSpPr>
        <p:spPr>
          <a:xfrm>
            <a:off x="7223760" y="123444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KEEP LEARNING</a:t>
            </a:r>
            <a:endParaRPr lang="en-US" sz="1400" dirty="0"/>
          </a:p>
        </p:txBody>
      </p:sp>
      <p:sp>
        <p:nvSpPr>
          <p:cNvPr id="6" name="MDN Web Docs card"/>
          <p:cNvSpPr/>
          <p:nvPr/>
        </p:nvSpPr>
        <p:spPr>
          <a:xfrm>
            <a:off x="7223760" y="1737360"/>
            <a:ext cx="4416552" cy="1143000"/>
          </a:xfrm>
          <a:prstGeom prst="roundRect">
            <a:avLst>
              <a:gd name="adj" fmla="val 12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7" name="MDN Web Docs circle"/>
          <p:cNvSpPr/>
          <p:nvPr/>
        </p:nvSpPr>
        <p:spPr>
          <a:xfrm>
            <a:off x="7452360" y="19659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MDN Web Docs icon" descr="MDN Web Do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810" y="2137410"/>
            <a:ext cx="342900" cy="342900"/>
          </a:xfrm>
          <a:prstGeom prst="rect">
            <a:avLst/>
          </a:prstGeom>
        </p:spPr>
      </p:pic>
      <p:sp>
        <p:nvSpPr>
          <p:cNvPr id="9" name="MDN Web Docs name"/>
          <p:cNvSpPr txBox="1"/>
          <p:nvPr/>
        </p:nvSpPr>
        <p:spPr>
          <a:xfrm>
            <a:off x="8366760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MDN Web Docs</a:t>
            </a:r>
            <a:endParaRPr lang="en-US" sz="2000" dirty="0"/>
          </a:p>
        </p:txBody>
      </p:sp>
      <p:sp>
        <p:nvSpPr>
          <p:cNvPr id="10" name="MDN Web Docs url"/>
          <p:cNvSpPr txBox="1"/>
          <p:nvPr/>
        </p:nvSpPr>
        <p:spPr>
          <a:xfrm>
            <a:off x="8366760" y="2313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developer.mozilla.org</a:t>
            </a:r>
            <a:endParaRPr lang="en-US" sz="1600" dirty="0"/>
          </a:p>
        </p:txBody>
      </p:sp>
      <p:sp>
        <p:nvSpPr>
          <p:cNvPr id="11" name="freeCodeCamp card"/>
          <p:cNvSpPr/>
          <p:nvPr/>
        </p:nvSpPr>
        <p:spPr>
          <a:xfrm>
            <a:off x="7223760" y="3108960"/>
            <a:ext cx="4416552" cy="1143000"/>
          </a:xfrm>
          <a:prstGeom prst="roundRect">
            <a:avLst>
              <a:gd name="adj" fmla="val 12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2" name="freeCodeCamp circle"/>
          <p:cNvSpPr/>
          <p:nvPr/>
        </p:nvSpPr>
        <p:spPr>
          <a:xfrm>
            <a:off x="7452360" y="33375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freeCodeCamp icon" descr="freeCodeCa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10" y="3509010"/>
            <a:ext cx="342900" cy="342900"/>
          </a:xfrm>
          <a:prstGeom prst="rect">
            <a:avLst/>
          </a:prstGeom>
        </p:spPr>
      </p:pic>
      <p:sp>
        <p:nvSpPr>
          <p:cNvPr id="14" name="freeCodeCamp name"/>
          <p:cNvSpPr txBox="1"/>
          <p:nvPr/>
        </p:nvSpPr>
        <p:spPr>
          <a:xfrm>
            <a:off x="8366760" y="3273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freeCodeCamp</a:t>
            </a:r>
            <a:endParaRPr lang="en-US" sz="2000" dirty="0"/>
          </a:p>
        </p:txBody>
      </p:sp>
      <p:sp>
        <p:nvSpPr>
          <p:cNvPr id="15" name="freeCodeCamp url"/>
          <p:cNvSpPr txBox="1"/>
          <p:nvPr/>
        </p:nvSpPr>
        <p:spPr>
          <a:xfrm>
            <a:off x="8366760" y="3685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freecodecamp.org</a:t>
            </a:r>
            <a:endParaRPr lang="en-US" sz="1600" dirty="0"/>
          </a:p>
        </p:txBody>
      </p:sp>
      <p:sp>
        <p:nvSpPr>
          <p:cNvPr id="16" name="Flexbox Froggy card"/>
          <p:cNvSpPr/>
          <p:nvPr/>
        </p:nvSpPr>
        <p:spPr>
          <a:xfrm>
            <a:off x="7223760" y="4480560"/>
            <a:ext cx="4416552" cy="1143000"/>
          </a:xfrm>
          <a:prstGeom prst="roundRect">
            <a:avLst>
              <a:gd name="adj" fmla="val 12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7" name="Flexbox Froggy circle"/>
          <p:cNvSpPr/>
          <p:nvPr/>
        </p:nvSpPr>
        <p:spPr>
          <a:xfrm>
            <a:off x="7452360" y="4709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lexbox Froggy icon" descr="Flexbox Frogg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10" y="4880610"/>
            <a:ext cx="342900" cy="342900"/>
          </a:xfrm>
          <a:prstGeom prst="rect">
            <a:avLst/>
          </a:prstGeom>
        </p:spPr>
      </p:pic>
      <p:sp>
        <p:nvSpPr>
          <p:cNvPr id="19" name="Flexbox Froggy name"/>
          <p:cNvSpPr txBox="1"/>
          <p:nvPr/>
        </p:nvSpPr>
        <p:spPr>
          <a:xfrm>
            <a:off x="8366760" y="4645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Flexbox Froggy</a:t>
            </a:r>
            <a:endParaRPr lang="en-US" sz="2000" dirty="0"/>
          </a:p>
        </p:txBody>
      </p:sp>
      <p:sp>
        <p:nvSpPr>
          <p:cNvPr id="20" name="Flexbox Froggy url"/>
          <p:cNvSpPr txBox="1"/>
          <p:nvPr/>
        </p:nvSpPr>
        <p:spPr>
          <a:xfrm>
            <a:off x="8366760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flexboxfroggy.com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k-Me">
  <a:themeElements>
    <a:clrScheme name="Link-Me">
      <a:dk1>
        <a:srgbClr val="1E1E2E"/>
      </a:dk1>
      <a:lt1>
        <a:srgbClr val="FFFFFF"/>
      </a:lt1>
      <a:dk2>
        <a:srgbClr val="6C7086"/>
      </a:dk2>
      <a:lt2>
        <a:srgbClr val="EEF0F8"/>
      </a:lt2>
      <a:accent1>
        <a:srgbClr val="89B4FA"/>
      </a:accent1>
      <a:accent2>
        <a:srgbClr val="F5C2E7"/>
      </a:accent2>
      <a:accent3>
        <a:srgbClr val="A6E3A1"/>
      </a:accent3>
      <a:accent4>
        <a:srgbClr val="F9E2AF"/>
      </a:accent4>
      <a:accent5>
        <a:srgbClr val="F38BA8"/>
      </a:accent5>
      <a:accent6>
        <a:srgbClr val="CBA6F7"/>
      </a:accent6>
      <a:hlink>
        <a:srgbClr val="1E66F5"/>
      </a:hlink>
      <a:folHlink>
        <a:srgbClr val="8839EF"/>
      </a:folHlink>
    </a:clrScheme>
    <a:fontScheme name="Link-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Link-Me: Build Your Own Linktree</dc:title>
  <dc:subject>PptxGenJS Presentation</dc:subject>
  <dc:creator>CS Club</dc:creator>
  <cp:lastModifiedBy>CS Club</cp:lastModifiedBy>
  <cp:revision>1</cp:revision>
  <dcterms:created xsi:type="dcterms:W3CDTF">2026-10-03T12:11:37Z</dcterms:created>
  <dcterms:modified xsi:type="dcterms:W3CDTF">2026-10-03T12:11:37Z</dcterms:modified>
</cp:coreProperties>
</file>